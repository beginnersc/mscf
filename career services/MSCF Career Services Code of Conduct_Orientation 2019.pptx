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15"/>
  </p:notesMasterIdLst>
  <p:handoutMasterIdLst>
    <p:handoutMasterId r:id="rId16"/>
  </p:handoutMasterIdLst>
  <p:sldIdLst>
    <p:sldId id="256" r:id="rId2"/>
    <p:sldId id="319" r:id="rId3"/>
    <p:sldId id="310" r:id="rId4"/>
    <p:sldId id="340" r:id="rId5"/>
    <p:sldId id="341" r:id="rId6"/>
    <p:sldId id="296" r:id="rId7"/>
    <p:sldId id="337" r:id="rId8"/>
    <p:sldId id="338" r:id="rId9"/>
    <p:sldId id="300" r:id="rId10"/>
    <p:sldId id="339" r:id="rId11"/>
    <p:sldId id="330" r:id="rId12"/>
    <p:sldId id="314" r:id="rId13"/>
    <p:sldId id="318" r:id="rId1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554" autoAdjust="0"/>
    <p:restoredTop sz="82253"/>
  </p:normalViewPr>
  <p:slideViewPr>
    <p:cSldViewPr snapToGrid="0">
      <p:cViewPr>
        <p:scale>
          <a:sx n="111" d="100"/>
          <a:sy n="111" d="100"/>
        </p:scale>
        <p:origin x="648" y="-96"/>
      </p:cViewPr>
      <p:guideLst>
        <p:guide orient="horz" pos="218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60"/>
    </p:cViewPr>
  </p:sorterViewPr>
  <p:notesViewPr>
    <p:cSldViewPr snapToGrid="0">
      <p:cViewPr varScale="1">
        <p:scale>
          <a:sx n="83" d="100"/>
          <a:sy n="83" d="100"/>
        </p:scale>
        <p:origin x="395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B10FE-D2BD-4DE9-A9B7-3AB8D5A96E5C}" type="datetimeFigureOut">
              <a:rPr lang="en-US" smtClean="0"/>
              <a:t>7/31/19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6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6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3A80D-57D8-41B3-8475-979E0EFFA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20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2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1E9EBDB-E086-454D-9906-4DCCEAA61837}" type="datetimeFigureOut">
              <a:rPr lang="en-US" smtClean="0"/>
              <a:t>7/31/19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C7251D6-56B7-4F7D-ACF7-83DD47910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29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5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309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309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49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409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76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294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katie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21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703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Queeta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429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out into separate groups to read code of conduct.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251D6-56B7-4F7D-ACF7-83DD479100C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91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962401"/>
          </a:xfrm>
        </p:spPr>
        <p:txBody>
          <a:bodyPr/>
          <a:lstStyle>
            <a:lvl1pPr>
              <a:buClr>
                <a:schemeClr val="tx1"/>
              </a:buClr>
              <a:defRPr sz="2800"/>
            </a:lvl1pPr>
            <a:lvl2pPr>
              <a:buClr>
                <a:schemeClr val="tx1"/>
              </a:buClr>
              <a:defRPr sz="2400"/>
            </a:lvl2pPr>
            <a:lvl3pPr>
              <a:buClr>
                <a:schemeClr val="tx1"/>
              </a:buClr>
              <a:defRPr sz="2200"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616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616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979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43201"/>
            <a:ext cx="8229600" cy="2971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9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32" r:id="rId12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ts val="2380"/>
        </a:lnSpc>
        <a:spcBef>
          <a:spcPts val="576"/>
        </a:spcBef>
        <a:spcAft>
          <a:spcPts val="1000"/>
        </a:spcAft>
        <a:buClr>
          <a:schemeClr val="tx1"/>
        </a:buClr>
        <a:buFont typeface="Wingdings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lnSpc>
          <a:spcPts val="2380"/>
        </a:lnSpc>
        <a:spcBef>
          <a:spcPts val="576"/>
        </a:spcBef>
        <a:spcAft>
          <a:spcPts val="1000"/>
        </a:spcAft>
        <a:buClr>
          <a:schemeClr val="tx1"/>
        </a:buClr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lnSpc>
          <a:spcPts val="2380"/>
        </a:lnSpc>
        <a:spcBef>
          <a:spcPts val="576"/>
        </a:spcBef>
        <a:spcAft>
          <a:spcPts val="1000"/>
        </a:spcAft>
        <a:buClr>
          <a:schemeClr val="tx1"/>
        </a:buClr>
        <a:buFont typeface="Wingdings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ts val="2380"/>
        </a:lnSpc>
        <a:spcBef>
          <a:spcPts val="576"/>
        </a:spcBef>
        <a:spcAft>
          <a:spcPts val="1000"/>
        </a:spcAft>
        <a:buClr>
          <a:schemeClr val="tx1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ts val="2380"/>
        </a:lnSpc>
        <a:spcBef>
          <a:spcPts val="576"/>
        </a:spcBef>
        <a:spcAft>
          <a:spcPts val="1000"/>
        </a:spcAft>
        <a:buClr>
          <a:schemeClr val="tx1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sondip@cmu.edu" TargetMode="External"/><Relationship Id="rId4" Type="http://schemas.openxmlformats.org/officeDocument/2006/relationships/hyperlink" Target="mailto:qhw@cmu.edu" TargetMode="External"/><Relationship Id="rId5" Type="http://schemas.openxmlformats.org/officeDocument/2006/relationships/hyperlink" Target="mailto:nkasievi@andrew.cmu.edu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mailto:vgakhar@andrew.cm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008" y="2130425"/>
            <a:ext cx="8478982" cy="147002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US" b="1" dirty="0">
                <a:cs typeface="Arial" panose="020B0604020202020204" pitchFamily="34" charset="0"/>
              </a:rPr>
              <a:t>MSCF Career Services </a:t>
            </a:r>
            <a:br>
              <a:rPr lang="en-US" b="1" dirty="0">
                <a:cs typeface="Arial" panose="020B0604020202020204" pitchFamily="34" charset="0"/>
              </a:rPr>
            </a:br>
            <a:r>
              <a:rPr lang="en-US" b="1" dirty="0">
                <a:cs typeface="Arial" panose="020B0604020202020204" pitchFamily="34" charset="0"/>
              </a:rPr>
              <a:t>Code of </a:t>
            </a:r>
            <a:r>
              <a:rPr lang="en-US" b="1" dirty="0" smtClean="0">
                <a:cs typeface="Arial" panose="020B0604020202020204" pitchFamily="34" charset="0"/>
              </a:rPr>
              <a:t>Conduct</a:t>
            </a:r>
            <a:endParaRPr lang="en-US" b="1" dirty="0"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4099" y="3691444"/>
            <a:ext cx="6400800" cy="1752600"/>
          </a:xfrm>
        </p:spPr>
        <p:txBody>
          <a:bodyPr>
            <a:normAutofit/>
          </a:bodyPr>
          <a:lstStyle/>
          <a:p>
            <a:endParaRPr lang="en-US" sz="3600" b="1" dirty="0" smtClean="0">
              <a:solidFill>
                <a:schemeClr val="tx1"/>
              </a:solidFill>
            </a:endParaRPr>
          </a:p>
          <a:p>
            <a:r>
              <a:rPr lang="en-US" sz="3600" b="1" dirty="0" smtClean="0">
                <a:solidFill>
                  <a:schemeClr val="tx1"/>
                </a:solidFill>
              </a:rPr>
              <a:t>Orientation 2019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5221" y="4683053"/>
            <a:ext cx="51435" cy="20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6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4737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7" name="Picture Placeholder 6" title="Web Video Player"/>
              <p:cNvGraphicFramePr>
                <a:graphicFrameLocks noGrp="1"/>
              </p:cNvGraphicFramePr>
              <p:nvPr>
                <p:ph type="pic" idx="1"/>
                <p:extLst/>
              </p:nvPr>
            </p:nvGraphicFramePr>
            <p:xfrm>
              <a:off x="1227406" y="1078816"/>
              <a:ext cx="6668087" cy="436802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7" name="Picture Placeholder 6" title="Web Video Player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7406" y="1078816"/>
                <a:ext cx="6668087" cy="43680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6886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 txBox="1">
            <a:spLocks noGrp="1"/>
          </p:cNvSpPr>
          <p:nvPr/>
        </p:nvSpPr>
        <p:spPr bwMode="auto">
          <a:xfrm>
            <a:off x="6962775" y="5773341"/>
            <a:ext cx="820341" cy="227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2E526797-F5CD-4B95-B277-FEECA567F39F}" type="slidenum">
              <a:rPr lang="en-US" sz="750" b="1">
                <a:solidFill>
                  <a:srgbClr val="FFFFFF"/>
                </a:solidFill>
                <a:ea typeface="ヒラギノ角ゴ Pro W3" pitchFamily="86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sz="750" b="1" dirty="0">
              <a:solidFill>
                <a:srgbClr val="FFFFFF"/>
              </a:solidFill>
              <a:ea typeface="ヒラギノ角ゴ Pro W3" pitchFamily="86" charset="-128"/>
            </a:endParaRPr>
          </a:p>
        </p:txBody>
      </p:sp>
      <p:sp>
        <p:nvSpPr>
          <p:cNvPr id="38915" name="Line 2"/>
          <p:cNvSpPr>
            <a:spLocks noChangeShapeType="1"/>
          </p:cNvSpPr>
          <p:nvPr/>
        </p:nvSpPr>
        <p:spPr bwMode="auto">
          <a:xfrm>
            <a:off x="1135856" y="5838825"/>
            <a:ext cx="6858000" cy="0"/>
          </a:xfrm>
          <a:prstGeom prst="line">
            <a:avLst/>
          </a:prstGeom>
          <a:noFill/>
          <a:ln w="38100">
            <a:noFill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ヒラギノ角ゴ Pro W3" pitchFamily="86" charset="-128"/>
            </a:endParaRPr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1814513" y="3219450"/>
            <a:ext cx="38016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5022" indent="-175022" algn="ctr" fontAlgn="base">
              <a:spcBef>
                <a:spcPct val="50000"/>
              </a:spcBef>
              <a:spcAft>
                <a:spcPct val="0"/>
              </a:spcAft>
            </a:pPr>
            <a:endParaRPr lang="en-US" b="1" dirty="0">
              <a:solidFill>
                <a:srgbClr val="333333"/>
              </a:solidFill>
              <a:ea typeface="ヒラギノ角ゴ Pro W3" pitchFamily="8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Recruiting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5684"/>
            <a:ext cx="8229600" cy="4335066"/>
          </a:xfrm>
        </p:spPr>
        <p:txBody>
          <a:bodyPr>
            <a:normAutofit/>
          </a:bodyPr>
          <a:lstStyle/>
          <a:p>
            <a:pPr fontAlgn="base">
              <a:lnSpc>
                <a:spcPts val="2880"/>
              </a:lnSpc>
            </a:pPr>
            <a:r>
              <a:rPr lang="en-US" sz="2400" dirty="0" smtClean="0"/>
              <a:t>One </a:t>
            </a:r>
            <a:r>
              <a:rPr lang="en-US" sz="2400" dirty="0"/>
              <a:t>action can destroy a recruiting relationship—for you, the school, and the MSCF program</a:t>
            </a:r>
          </a:p>
          <a:p>
            <a:pPr fontAlgn="base">
              <a:lnSpc>
                <a:spcPts val="2880"/>
              </a:lnSpc>
            </a:pPr>
            <a:r>
              <a:rPr lang="en-US" sz="2400" dirty="0"/>
              <a:t>It is your responsibility as a member of the MSCF community to behave “ethically” and adhere to the principles outlined in the Code of Conduct</a:t>
            </a:r>
          </a:p>
          <a:p>
            <a:pPr fontAlgn="base">
              <a:lnSpc>
                <a:spcPts val="2880"/>
              </a:lnSpc>
            </a:pPr>
            <a:r>
              <a:rPr lang="en-US" sz="2400" dirty="0"/>
              <a:t>Always act as a community (help your classmates)</a:t>
            </a:r>
          </a:p>
          <a:p>
            <a:pPr fontAlgn="base">
              <a:lnSpc>
                <a:spcPts val="2880"/>
              </a:lnSpc>
            </a:pPr>
            <a:r>
              <a:rPr lang="en-US" sz="2400" dirty="0" smtClean="0"/>
              <a:t>Since </a:t>
            </a:r>
            <a:r>
              <a:rPr lang="en-US" sz="2400" dirty="0"/>
              <a:t>individual ethics vary in any population,  we need to define and enforce </a:t>
            </a:r>
            <a:r>
              <a:rPr lang="en-US" sz="2400" dirty="0" smtClean="0"/>
              <a:t>ethical standards</a:t>
            </a:r>
            <a:endParaRPr lang="en-US" sz="2400" dirty="0">
              <a:sym typeface="Wingdings" pitchFamily="2" charset="2"/>
            </a:endParaRPr>
          </a:p>
          <a:p>
            <a:pPr>
              <a:buClrTx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27634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 txBox="1">
            <a:spLocks noGrp="1"/>
          </p:cNvSpPr>
          <p:nvPr/>
        </p:nvSpPr>
        <p:spPr bwMode="auto">
          <a:xfrm>
            <a:off x="6962775" y="5773341"/>
            <a:ext cx="820341" cy="227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2E526797-F5CD-4B95-B277-FEECA567F39F}" type="slidenum">
              <a:rPr lang="en-US" sz="750" b="1">
                <a:solidFill>
                  <a:srgbClr val="FFFFFF"/>
                </a:solidFill>
                <a:ea typeface="ヒラギノ角ゴ Pro W3" pitchFamily="86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sz="750" b="1" dirty="0">
              <a:solidFill>
                <a:srgbClr val="FFFFFF"/>
              </a:solidFill>
              <a:ea typeface="ヒラギノ角ゴ Pro W3" pitchFamily="86" charset="-128"/>
            </a:endParaRPr>
          </a:p>
        </p:txBody>
      </p:sp>
      <p:sp>
        <p:nvSpPr>
          <p:cNvPr id="38915" name="Line 2"/>
          <p:cNvSpPr>
            <a:spLocks noChangeShapeType="1"/>
          </p:cNvSpPr>
          <p:nvPr/>
        </p:nvSpPr>
        <p:spPr bwMode="auto">
          <a:xfrm>
            <a:off x="1135856" y="5838825"/>
            <a:ext cx="6858000" cy="0"/>
          </a:xfrm>
          <a:prstGeom prst="line">
            <a:avLst/>
          </a:prstGeom>
          <a:noFill/>
          <a:ln w="38100">
            <a:noFill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ヒラギノ角ゴ Pro W3" pitchFamily="86" charset="-128"/>
            </a:endParaRPr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1814513" y="3219450"/>
            <a:ext cx="38016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5022" indent="-175022" algn="ctr" fontAlgn="base">
              <a:spcBef>
                <a:spcPct val="50000"/>
              </a:spcBef>
              <a:spcAft>
                <a:spcPct val="0"/>
              </a:spcAft>
            </a:pPr>
            <a:endParaRPr lang="en-US" b="1" dirty="0">
              <a:solidFill>
                <a:srgbClr val="333333"/>
              </a:solidFill>
              <a:ea typeface="ヒラギノ角ゴ Pro W3" pitchFamily="8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Recruiting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5684"/>
            <a:ext cx="8229600" cy="4335066"/>
          </a:xfrm>
        </p:spPr>
        <p:txBody>
          <a:bodyPr>
            <a:normAutofit fontScale="85000" lnSpcReduction="10000"/>
          </a:bodyPr>
          <a:lstStyle/>
          <a:p>
            <a:pPr>
              <a:buClrTx/>
            </a:pPr>
            <a:r>
              <a:rPr lang="en-US" sz="1600" b="1" dirty="0"/>
              <a:t>Be honest about your GPA. </a:t>
            </a:r>
            <a:r>
              <a:rPr lang="en-US" sz="1600" b="1" dirty="0" smtClean="0"/>
              <a:t>(</a:t>
            </a:r>
            <a:r>
              <a:rPr lang="en-US" sz="1600" b="1" dirty="0"/>
              <a:t>Use the calculator if you wish to use a 4.0 scale, </a:t>
            </a:r>
            <a:r>
              <a:rPr lang="en-US" sz="1600" b="1" dirty="0" smtClean="0"/>
              <a:t>e.g.: 3.80/4.33 </a:t>
            </a:r>
            <a:r>
              <a:rPr lang="en-US" sz="1600" b="1" dirty="0"/>
              <a:t>=/= 3.8/4.0</a:t>
            </a:r>
            <a:r>
              <a:rPr lang="en-US" sz="1600" b="1" dirty="0" smtClean="0"/>
              <a:t>)</a:t>
            </a:r>
          </a:p>
          <a:p>
            <a:pPr>
              <a:buClrTx/>
            </a:pPr>
            <a:r>
              <a:rPr lang="en-US" sz="1600" b="1" dirty="0"/>
              <a:t>Only apply for internships that you are genuinely interested in</a:t>
            </a:r>
            <a:r>
              <a:rPr lang="en-US" sz="1600" b="1" dirty="0" smtClean="0"/>
              <a:t>.</a:t>
            </a:r>
          </a:p>
          <a:p>
            <a:pPr>
              <a:buClrTx/>
            </a:pPr>
            <a:r>
              <a:rPr lang="en-US" sz="1600" b="1" dirty="0"/>
              <a:t>Be on time (or early) for ALL career events and be </a:t>
            </a:r>
            <a:r>
              <a:rPr lang="en-US" sz="1600" b="1" dirty="0" smtClean="0"/>
              <a:t>dressed appropriately (professionally).  This includes: QFC </a:t>
            </a:r>
            <a:r>
              <a:rPr lang="en-US" sz="1600" b="1" dirty="0"/>
              <a:t>Treks, interviews, </a:t>
            </a:r>
            <a:r>
              <a:rPr lang="en-US" sz="1600" b="1" dirty="0" smtClean="0"/>
              <a:t>presentations and appointments.</a:t>
            </a:r>
          </a:p>
          <a:p>
            <a:pPr>
              <a:buClrTx/>
            </a:pPr>
            <a:r>
              <a:rPr lang="en-US" sz="1600" b="1" dirty="0" smtClean="0"/>
              <a:t>Attend </a:t>
            </a:r>
            <a:r>
              <a:rPr lang="en-US" sz="1600" b="1" dirty="0"/>
              <a:t>all events you’ve RSVP’d </a:t>
            </a:r>
            <a:r>
              <a:rPr lang="en-US" sz="1600" b="1" dirty="0" smtClean="0"/>
              <a:t>for and only </a:t>
            </a:r>
            <a:r>
              <a:rPr lang="en-US" sz="1600" b="1" dirty="0"/>
              <a:t>sign in for yourself; be respectful</a:t>
            </a:r>
            <a:r>
              <a:rPr lang="en-US" sz="1600" b="1" dirty="0" smtClean="0"/>
              <a:t>.</a:t>
            </a:r>
          </a:p>
          <a:p>
            <a:pPr>
              <a:buClrTx/>
            </a:pPr>
            <a:r>
              <a:rPr lang="en-US" sz="1600" b="1" dirty="0"/>
              <a:t>Notify MSCF Career Services within 24 </a:t>
            </a:r>
            <a:r>
              <a:rPr lang="en-US" sz="1600" b="1" dirty="0" smtClean="0"/>
              <a:t>hours </a:t>
            </a:r>
            <a:r>
              <a:rPr lang="en-US" sz="1600" b="1" dirty="0"/>
              <a:t>of any verbal or written offers: whether or not you plan to accept and whether or not </a:t>
            </a:r>
            <a:r>
              <a:rPr lang="en-US" sz="1600" b="1" dirty="0" smtClean="0"/>
              <a:t>you used </a:t>
            </a:r>
            <a:r>
              <a:rPr lang="en-US" sz="1600" b="1" dirty="0"/>
              <a:t>school resources</a:t>
            </a:r>
            <a:r>
              <a:rPr lang="en-US" sz="1600" b="1" dirty="0" smtClean="0"/>
              <a:t>.</a:t>
            </a:r>
          </a:p>
          <a:p>
            <a:pPr>
              <a:buClrTx/>
            </a:pPr>
            <a:r>
              <a:rPr lang="en-US" sz="1600" b="1" dirty="0"/>
              <a:t>Once you accept an offer, you must </a:t>
            </a:r>
            <a:r>
              <a:rPr lang="en-US" sz="1600" b="1" i="1" u="sng" dirty="0">
                <a:solidFill>
                  <a:srgbClr val="FF0000"/>
                </a:solidFill>
              </a:rPr>
              <a:t>immediately</a:t>
            </a:r>
            <a:r>
              <a:rPr lang="en-US" sz="1600" b="1" dirty="0"/>
              <a:t> stop all self-directed and school-facilitated job/internship search activities, including any  already- scheduled interviews.</a:t>
            </a:r>
          </a:p>
        </p:txBody>
      </p:sp>
    </p:spTree>
    <p:extLst>
      <p:ext uri="{BB962C8B-B14F-4D97-AF65-F5344CB8AC3E}">
        <p14:creationId xmlns:p14="http://schemas.microsoft.com/office/powerpoint/2010/main" val="187315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Recruiting </a:t>
            </a:r>
            <a:r>
              <a:rPr lang="en-US" dirty="0" smtClean="0"/>
              <a:t>Ethics/Consequences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14801"/>
          </a:xfrm>
        </p:spPr>
        <p:txBody>
          <a:bodyPr>
            <a:noAutofit/>
          </a:bodyPr>
          <a:lstStyle/>
          <a:p>
            <a:r>
              <a:rPr lang="en-US" sz="1400" b="1" i="1" dirty="0" smtClean="0"/>
              <a:t>Corporate </a:t>
            </a:r>
            <a:r>
              <a:rPr lang="en-US" sz="1400" b="1" i="1" dirty="0" smtClean="0"/>
              <a:t>Presentations/OCR Interviews/Other </a:t>
            </a:r>
            <a:r>
              <a:rPr lang="en-US" sz="1400" b="1" i="1" dirty="0" smtClean="0"/>
              <a:t>Recruiting Events</a:t>
            </a:r>
            <a:r>
              <a:rPr lang="en-US" sz="1400" dirty="0" smtClean="0"/>
              <a:t>: You will be penalized If you fail to cancel an RSVP </a:t>
            </a:r>
            <a:r>
              <a:rPr lang="en-US" sz="1400" dirty="0" smtClean="0"/>
              <a:t>(corporate presentation/ scheduled interview) at </a:t>
            </a:r>
            <a:r>
              <a:rPr lang="en-US" sz="1400" dirty="0" smtClean="0"/>
              <a:t>least two days before, arrive late/leave early, sign in for another student, or are dressed inappropriately.</a:t>
            </a:r>
          </a:p>
          <a:p>
            <a:r>
              <a:rPr lang="en-US" sz="1400" b="1" i="1" dirty="0" smtClean="0"/>
              <a:t>Treks</a:t>
            </a:r>
            <a:r>
              <a:rPr lang="en-US" sz="1400" b="1" i="1" dirty="0" smtClean="0"/>
              <a:t>: </a:t>
            </a:r>
            <a:r>
              <a:rPr lang="en-US" sz="1400" dirty="0" smtClean="0"/>
              <a:t>You will be penalized if you are a “no show”, arrive late/leave early or are dressed inappropriately.</a:t>
            </a:r>
          </a:p>
          <a:p>
            <a:r>
              <a:rPr lang="en-US" sz="1400" b="1" i="1" dirty="0" smtClean="0"/>
              <a:t>Misrepresenting your identity or qualifications: </a:t>
            </a:r>
            <a:r>
              <a:rPr lang="en-US" sz="1400" dirty="0"/>
              <a:t>You will be </a:t>
            </a:r>
            <a:r>
              <a:rPr lang="en-US" sz="1400" dirty="0" smtClean="0"/>
              <a:t>penalized </a:t>
            </a:r>
            <a:r>
              <a:rPr lang="en-US" sz="1400" dirty="0" smtClean="0"/>
              <a:t>severely.</a:t>
            </a:r>
            <a:endParaRPr lang="en-US" sz="1400" dirty="0" smtClean="0"/>
          </a:p>
          <a:p>
            <a:r>
              <a:rPr lang="en-US" sz="1400" b="1" i="1" dirty="0" smtClean="0"/>
              <a:t>Reneging on an Internship or Job offer / Continuing to Apply for Jobs or Interviews after accepting an offer: </a:t>
            </a:r>
            <a:r>
              <a:rPr lang="en-US" sz="1400" dirty="0"/>
              <a:t>You will be </a:t>
            </a:r>
            <a:r>
              <a:rPr lang="en-US" sz="1400" dirty="0" smtClean="0"/>
              <a:t>severely penalized.</a:t>
            </a:r>
            <a:endParaRPr lang="en-US" sz="1400" b="1" i="1" dirty="0" smtClean="0"/>
          </a:p>
          <a:p>
            <a:r>
              <a:rPr lang="en-US" sz="1400" b="1" i="1" u="sng" dirty="0" smtClean="0"/>
              <a:t>Consequences range from</a:t>
            </a:r>
            <a:r>
              <a:rPr lang="en-US" sz="1400" b="1" i="1" dirty="0" smtClean="0"/>
              <a:t>: </a:t>
            </a:r>
            <a:r>
              <a:rPr lang="en-US" sz="1400" dirty="0" smtClean="0"/>
              <a:t>Losing access to MSCF Career Services, removing your resume from the QuantConnect Resume </a:t>
            </a:r>
            <a:r>
              <a:rPr lang="en-US" sz="1400" dirty="0" smtClean="0"/>
              <a:t>Book, mandatory </a:t>
            </a:r>
            <a:r>
              <a:rPr lang="en-US" sz="1400" dirty="0" smtClean="0"/>
              <a:t>meeting w/ Rick Bryant, to losing Alumni Career Services for 5 years.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8325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 txBox="1">
            <a:spLocks noGrp="1"/>
          </p:cNvSpPr>
          <p:nvPr/>
        </p:nvSpPr>
        <p:spPr bwMode="auto">
          <a:xfrm>
            <a:off x="6962775" y="5773341"/>
            <a:ext cx="820341" cy="227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9pPr>
          </a:lstStyle>
          <a:p>
            <a:pPr algn="r" eaLnBrk="1" hangingPunct="1"/>
            <a:fld id="{EF888E5F-45F2-4512-8EE6-1A37BC28CFEB}" type="slidenum">
              <a:rPr lang="en-US" altLang="en-US" sz="750" b="1">
                <a:solidFill>
                  <a:schemeClr val="bg1"/>
                </a:solidFill>
              </a:rPr>
              <a:pPr algn="r" eaLnBrk="1" hangingPunct="1"/>
              <a:t>6</a:t>
            </a:fld>
            <a:endParaRPr lang="en-US" altLang="en-US" sz="750" b="1" dirty="0">
              <a:solidFill>
                <a:schemeClr val="bg1"/>
              </a:solidFill>
            </a:endParaRPr>
          </a:p>
        </p:txBody>
      </p:sp>
      <p:sp>
        <p:nvSpPr>
          <p:cNvPr id="25603" name="Line 2"/>
          <p:cNvSpPr>
            <a:spLocks noChangeShapeType="1"/>
          </p:cNvSpPr>
          <p:nvPr/>
        </p:nvSpPr>
        <p:spPr bwMode="auto">
          <a:xfrm>
            <a:off x="1135856" y="5838825"/>
            <a:ext cx="6858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 dirty="0"/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814513" y="3219450"/>
            <a:ext cx="3801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6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1800" b="1" dirty="0">
              <a:solidFill>
                <a:srgbClr val="333333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756" y="359354"/>
            <a:ext cx="6172200" cy="857250"/>
          </a:xfrm>
        </p:spPr>
        <p:txBody>
          <a:bodyPr>
            <a:normAutofit/>
          </a:bodyPr>
          <a:lstStyle/>
          <a:p>
            <a:r>
              <a:rPr lang="en-US" altLang="en-US" sz="4400" dirty="0"/>
              <a:t>A </a:t>
            </a:r>
            <a:r>
              <a:rPr lang="en-US" altLang="en-US" sz="4400" dirty="0" smtClean="0"/>
              <a:t>Dilemma?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511" y="1282088"/>
            <a:ext cx="8150431" cy="4944541"/>
          </a:xfrm>
        </p:spPr>
        <p:txBody>
          <a:bodyPr>
            <a:noAutofit/>
          </a:bodyPr>
          <a:lstStyle/>
          <a:p>
            <a:pPr>
              <a:lnSpc>
                <a:spcPts val="2880"/>
              </a:lnSpc>
              <a:defRPr/>
            </a:pPr>
            <a:r>
              <a:rPr lang="en-US" sz="2400" dirty="0" smtClean="0"/>
              <a:t>Amy came to MSCF to pursue her dream of becoming a trader.</a:t>
            </a:r>
            <a:endParaRPr lang="en-US" sz="2400" dirty="0"/>
          </a:p>
          <a:p>
            <a:pPr>
              <a:lnSpc>
                <a:spcPts val="2880"/>
              </a:lnSpc>
              <a:defRPr/>
            </a:pPr>
            <a:r>
              <a:rPr lang="en-US" sz="2400" dirty="0"/>
              <a:t>In October, </a:t>
            </a:r>
            <a:r>
              <a:rPr lang="en-US" sz="2400" dirty="0" smtClean="0"/>
              <a:t>Amy got interviews </a:t>
            </a:r>
            <a:r>
              <a:rPr lang="en-US" sz="2400" dirty="0"/>
              <a:t>with two of her </a:t>
            </a:r>
            <a:r>
              <a:rPr lang="en-US" sz="2400" dirty="0" smtClean="0"/>
              <a:t>target banks </a:t>
            </a:r>
            <a:r>
              <a:rPr lang="en-US" sz="2400" dirty="0"/>
              <a:t>in </a:t>
            </a:r>
            <a:r>
              <a:rPr lang="en-US" sz="2400" dirty="0" smtClean="0"/>
              <a:t>NY (“ABC” and “XYZ”).  </a:t>
            </a:r>
            <a:r>
              <a:rPr lang="en-US" sz="2400" dirty="0"/>
              <a:t>As a fallback option, she also interviewed for a risk management internship with a </a:t>
            </a:r>
            <a:r>
              <a:rPr lang="en-US" sz="2400" dirty="0" smtClean="0"/>
              <a:t>firm </a:t>
            </a:r>
            <a:r>
              <a:rPr lang="en-US" sz="2400" dirty="0"/>
              <a:t>in </a:t>
            </a:r>
            <a:r>
              <a:rPr lang="en-US" sz="2400" dirty="0" smtClean="0"/>
              <a:t>HK </a:t>
            </a:r>
            <a:r>
              <a:rPr lang="en-US" sz="2400" dirty="0"/>
              <a:t>with </a:t>
            </a:r>
            <a:r>
              <a:rPr lang="en-US" sz="2400" dirty="0" smtClean="0"/>
              <a:t>help from an </a:t>
            </a:r>
            <a:r>
              <a:rPr lang="en-US" sz="2400" dirty="0"/>
              <a:t>MSCF </a:t>
            </a:r>
            <a:r>
              <a:rPr lang="en-US" sz="2400" dirty="0" smtClean="0"/>
              <a:t>Alum. </a:t>
            </a:r>
            <a:endParaRPr lang="en-US" sz="2400" dirty="0"/>
          </a:p>
          <a:p>
            <a:pPr>
              <a:lnSpc>
                <a:spcPts val="2880"/>
              </a:lnSpc>
              <a:defRPr/>
            </a:pPr>
            <a:r>
              <a:rPr lang="en-US" sz="2400" dirty="0"/>
              <a:t>In November, </a:t>
            </a:r>
            <a:r>
              <a:rPr lang="en-US" sz="2400" dirty="0" smtClean="0"/>
              <a:t>Amy </a:t>
            </a:r>
            <a:r>
              <a:rPr lang="en-US" sz="2400" dirty="0"/>
              <a:t>was disappointed to receive a rejection letter from </a:t>
            </a:r>
            <a:r>
              <a:rPr lang="en-US" sz="2400" dirty="0" smtClean="0"/>
              <a:t>ABC bank.  XYZ told </a:t>
            </a:r>
            <a:r>
              <a:rPr lang="en-US" sz="2400" dirty="0"/>
              <a:t>her </a:t>
            </a:r>
            <a:r>
              <a:rPr lang="en-US" sz="2400" dirty="0" smtClean="0"/>
              <a:t>that they </a:t>
            </a:r>
            <a:r>
              <a:rPr lang="en-US" sz="2400" dirty="0"/>
              <a:t>did not have a position for her </a:t>
            </a:r>
            <a:r>
              <a:rPr lang="en-US" sz="2400" dirty="0" smtClean="0"/>
              <a:t>right now, </a:t>
            </a:r>
            <a:r>
              <a:rPr lang="en-US" sz="2400" dirty="0"/>
              <a:t>but they “liked her” and would “keep her resume on file” should anything come up.  </a:t>
            </a:r>
          </a:p>
          <a:p>
            <a:pPr>
              <a:lnSpc>
                <a:spcPct val="120000"/>
              </a:lnSpc>
              <a:buClrTx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6366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/>
              <a:t>A Dilemma?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2880"/>
              </a:lnSpc>
              <a:defRPr/>
            </a:pPr>
            <a:r>
              <a:rPr lang="en-US" sz="2400" dirty="0" smtClean="0"/>
              <a:t>In December, Amy received </a:t>
            </a:r>
            <a:r>
              <a:rPr lang="en-US" sz="2400" dirty="0"/>
              <a:t>an offer for the </a:t>
            </a:r>
            <a:r>
              <a:rPr lang="en-US" sz="2400" dirty="0" smtClean="0"/>
              <a:t>HK risk </a:t>
            </a:r>
            <a:r>
              <a:rPr lang="en-US" sz="2400" dirty="0"/>
              <a:t>management </a:t>
            </a:r>
            <a:r>
              <a:rPr lang="en-US" sz="2400" dirty="0" smtClean="0"/>
              <a:t>internship. </a:t>
            </a:r>
            <a:r>
              <a:rPr lang="en-US" sz="2400" dirty="0"/>
              <a:t>Feeling too “stressed” </a:t>
            </a:r>
            <a:r>
              <a:rPr lang="en-US" sz="2400" dirty="0" smtClean="0"/>
              <a:t>about balancing her </a:t>
            </a:r>
            <a:r>
              <a:rPr lang="en-US" sz="2400" dirty="0"/>
              <a:t>internship search </a:t>
            </a:r>
            <a:r>
              <a:rPr lang="en-US" sz="2400" dirty="0" smtClean="0"/>
              <a:t>and school-work, Amy </a:t>
            </a:r>
            <a:r>
              <a:rPr lang="en-US" sz="2400" dirty="0"/>
              <a:t>decided to </a:t>
            </a:r>
            <a:r>
              <a:rPr lang="en-US" sz="2400" dirty="0" smtClean="0"/>
              <a:t>accept it.</a:t>
            </a:r>
            <a:endParaRPr lang="en-US" sz="2400" dirty="0"/>
          </a:p>
          <a:p>
            <a:pPr>
              <a:lnSpc>
                <a:spcPts val="2880"/>
              </a:lnSpc>
              <a:defRPr/>
            </a:pPr>
            <a:r>
              <a:rPr lang="en-US" sz="2400" dirty="0"/>
              <a:t>The following week, </a:t>
            </a:r>
            <a:r>
              <a:rPr lang="en-US" sz="2400" dirty="0" smtClean="0"/>
              <a:t>Amy received </a:t>
            </a:r>
            <a:r>
              <a:rPr lang="en-US" sz="2400" dirty="0"/>
              <a:t>a call from </a:t>
            </a:r>
            <a:r>
              <a:rPr lang="en-US" sz="2400" dirty="0" smtClean="0"/>
              <a:t>XYZ </a:t>
            </a:r>
            <a:r>
              <a:rPr lang="en-US" sz="2400" dirty="0"/>
              <a:t>bank </a:t>
            </a:r>
            <a:r>
              <a:rPr lang="en-US" sz="2400" dirty="0" smtClean="0"/>
              <a:t>who said they would </a:t>
            </a:r>
            <a:r>
              <a:rPr lang="en-US" sz="2400" dirty="0"/>
              <a:t>“keep her resume on file”. </a:t>
            </a:r>
            <a:r>
              <a:rPr lang="en-US" sz="2400" dirty="0" smtClean="0"/>
              <a:t>Amy</a:t>
            </a:r>
            <a:r>
              <a:rPr lang="en-US" sz="2400" dirty="0" smtClean="0"/>
              <a:t> </a:t>
            </a:r>
            <a:r>
              <a:rPr lang="en-US" sz="2400" dirty="0"/>
              <a:t>told </a:t>
            </a:r>
            <a:r>
              <a:rPr lang="en-US" sz="2400" dirty="0" smtClean="0"/>
              <a:t>XYZ that she </a:t>
            </a:r>
            <a:r>
              <a:rPr lang="en-US" sz="2400" dirty="0"/>
              <a:t>had already accepted another </a:t>
            </a:r>
            <a:r>
              <a:rPr lang="en-US" sz="2400" dirty="0" smtClean="0"/>
              <a:t>internship offer, but XYZ encouraged </a:t>
            </a:r>
            <a:r>
              <a:rPr lang="en-US" sz="2400" dirty="0"/>
              <a:t>her to interview with them anyway for a full-time position next year.  </a:t>
            </a:r>
          </a:p>
          <a:p>
            <a:pPr>
              <a:lnSpc>
                <a:spcPts val="2880"/>
              </a:lnSpc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301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D257CE-1BD0-D440-AB39-3B144CA2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/>
              <a:t>A Dilemma?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104991-220D-8543-BDC6-1A2CAA4EF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sz="2400" dirty="0"/>
              <a:t>Despite accepting the HK offer, she interviewed with </a:t>
            </a:r>
            <a:r>
              <a:rPr lang="en-US" sz="2400" dirty="0" smtClean="0"/>
              <a:t>XYZ anyway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ts val="2880"/>
              </a:lnSpc>
            </a:pPr>
            <a:r>
              <a:rPr lang="en-US" sz="2400" dirty="0"/>
              <a:t>Two days later, </a:t>
            </a:r>
            <a:r>
              <a:rPr lang="en-US" sz="2400" dirty="0" smtClean="0"/>
              <a:t>Amy </a:t>
            </a:r>
            <a:r>
              <a:rPr lang="en-US" sz="2400" dirty="0" smtClean="0"/>
              <a:t>received </a:t>
            </a:r>
            <a:r>
              <a:rPr lang="en-US" sz="2400" dirty="0"/>
              <a:t>a trading internship offer from </a:t>
            </a:r>
            <a:r>
              <a:rPr lang="en-US" sz="2400" dirty="0" smtClean="0"/>
              <a:t>XYZ.  </a:t>
            </a:r>
            <a:r>
              <a:rPr lang="en-US" sz="2400" dirty="0"/>
              <a:t>Despite her commitment to the other firm, she now had the chance to accept her “dream job”.  The company sweetened the deal by giving her a </a:t>
            </a:r>
            <a:r>
              <a:rPr lang="en-US" sz="2400" dirty="0" smtClean="0"/>
              <a:t>$10k </a:t>
            </a:r>
            <a:r>
              <a:rPr lang="en-US" sz="2400" dirty="0"/>
              <a:t>signing </a:t>
            </a:r>
            <a:r>
              <a:rPr lang="en-US" sz="2400" dirty="0" smtClean="0"/>
              <a:t>bonus.  </a:t>
            </a:r>
            <a:endParaRPr lang="en-US" sz="2400" dirty="0"/>
          </a:p>
          <a:p>
            <a:pPr>
              <a:lnSpc>
                <a:spcPts val="288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4904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400" dirty="0"/>
              <a:t>A Dilemma?</a:t>
            </a:r>
            <a:endParaRPr lang="en-US" alt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1508166"/>
            <a:ext cx="8229600" cy="4441371"/>
          </a:xfrm>
        </p:spPr>
        <p:txBody>
          <a:bodyPr>
            <a:noAutofit/>
          </a:bodyPr>
          <a:lstStyle/>
          <a:p>
            <a:pPr marL="0" indent="0">
              <a:lnSpc>
                <a:spcPts val="2880"/>
              </a:lnSpc>
              <a:buNone/>
              <a:defRPr/>
            </a:pPr>
            <a:r>
              <a:rPr lang="en-US" sz="2400" b="1" i="1" dirty="0"/>
              <a:t>Assuming that </a:t>
            </a:r>
            <a:r>
              <a:rPr lang="en-US" sz="2400" b="1" i="1" dirty="0" smtClean="0"/>
              <a:t>Amy</a:t>
            </a:r>
            <a:r>
              <a:rPr lang="en-US" sz="2400" b="1" i="1" dirty="0" smtClean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accepts</a:t>
            </a:r>
            <a:r>
              <a:rPr lang="en-US" sz="2400" b="1" i="1" dirty="0"/>
              <a:t> the NY trading offer and reneges on </a:t>
            </a:r>
            <a:r>
              <a:rPr lang="en-US" sz="2400" b="1" i="1" dirty="0" smtClean="0"/>
              <a:t>her HK </a:t>
            </a:r>
            <a:r>
              <a:rPr lang="en-US" sz="2400" b="1" i="1" dirty="0"/>
              <a:t>acceptance:</a:t>
            </a:r>
          </a:p>
          <a:p>
            <a:pPr marL="476250" lvl="1" indent="-210741">
              <a:lnSpc>
                <a:spcPts val="2880"/>
              </a:lnSpc>
              <a:defRPr/>
            </a:pPr>
            <a:r>
              <a:rPr lang="en-US" dirty="0"/>
              <a:t>What will the Hong Kong firm think about </a:t>
            </a:r>
            <a:r>
              <a:rPr lang="en-US" dirty="0" smtClean="0"/>
              <a:t>Amy </a:t>
            </a:r>
            <a:r>
              <a:rPr lang="en-US" dirty="0"/>
              <a:t>and MSCF when she reneges?  </a:t>
            </a:r>
          </a:p>
          <a:p>
            <a:pPr marL="476250" lvl="1" indent="-210741">
              <a:lnSpc>
                <a:spcPts val="2880"/>
              </a:lnSpc>
              <a:defRPr/>
            </a:pPr>
            <a:r>
              <a:rPr lang="en-US" dirty="0"/>
              <a:t>What will the MSCF </a:t>
            </a:r>
            <a:r>
              <a:rPr lang="en-US" dirty="0" smtClean="0"/>
              <a:t>Alum </a:t>
            </a:r>
            <a:r>
              <a:rPr lang="en-US" dirty="0"/>
              <a:t>think of </a:t>
            </a:r>
            <a:r>
              <a:rPr lang="en-US" dirty="0" smtClean="0"/>
              <a:t>Amy </a:t>
            </a:r>
            <a:r>
              <a:rPr lang="en-US" dirty="0"/>
              <a:t>and MSCF?</a:t>
            </a:r>
          </a:p>
          <a:p>
            <a:pPr marL="476250" lvl="1" indent="-210741">
              <a:lnSpc>
                <a:spcPts val="2880"/>
              </a:lnSpc>
              <a:defRPr/>
            </a:pPr>
            <a:r>
              <a:rPr lang="en-US" dirty="0"/>
              <a:t>What should MSCF “do” about </a:t>
            </a:r>
            <a:r>
              <a:rPr lang="en-US" dirty="0" smtClean="0"/>
              <a:t>Amy’s </a:t>
            </a:r>
            <a:r>
              <a:rPr lang="en-US" dirty="0"/>
              <a:t>actions and why?</a:t>
            </a:r>
          </a:p>
          <a:p>
            <a:pPr marL="342900" lvl="1" indent="0">
              <a:lnSpc>
                <a:spcPts val="2880"/>
              </a:lnSpc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2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EA3D99-4545-774A-B9B3-5DE46A28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/>
              <a:t>A Dilemma?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CF3229-1906-3446-83D6-9143410D1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ts val="2880"/>
              </a:lnSpc>
              <a:buClr>
                <a:prstClr val="black"/>
              </a:buClr>
              <a:buNone/>
              <a:defRPr/>
            </a:pPr>
            <a:r>
              <a:rPr lang="en-US" sz="2400" b="1" i="1" dirty="0">
                <a:solidFill>
                  <a:prstClr val="black"/>
                </a:solidFill>
              </a:rPr>
              <a:t>Assuming that </a:t>
            </a:r>
            <a:r>
              <a:rPr lang="en-US" sz="2400" b="1" i="1" dirty="0" smtClean="0">
                <a:solidFill>
                  <a:prstClr val="black"/>
                </a:solidFill>
              </a:rPr>
              <a:t>Amy </a:t>
            </a:r>
            <a:r>
              <a:rPr lang="en-US" sz="2400" b="1" i="1" dirty="0">
                <a:solidFill>
                  <a:srgbClr val="FF0000"/>
                </a:solidFill>
              </a:rPr>
              <a:t>declines</a:t>
            </a:r>
            <a:r>
              <a:rPr lang="en-US" sz="2400" b="1" i="1" dirty="0">
                <a:solidFill>
                  <a:prstClr val="black"/>
                </a:solidFill>
              </a:rPr>
              <a:t> the NY trading offer and keeps her word:</a:t>
            </a:r>
          </a:p>
          <a:p>
            <a:pPr marL="476250" lvl="1" indent="-210741">
              <a:lnSpc>
                <a:spcPts val="2880"/>
              </a:lnSpc>
              <a:buClr>
                <a:prstClr val="black"/>
              </a:buClr>
              <a:defRPr/>
            </a:pPr>
            <a:r>
              <a:rPr lang="en-US" dirty="0">
                <a:solidFill>
                  <a:prstClr val="black"/>
                </a:solidFill>
              </a:rPr>
              <a:t>What should MSCF “do” about </a:t>
            </a:r>
            <a:r>
              <a:rPr lang="en-US" dirty="0" smtClean="0">
                <a:solidFill>
                  <a:prstClr val="black"/>
                </a:solidFill>
              </a:rPr>
              <a:t>Amy’s </a:t>
            </a:r>
            <a:r>
              <a:rPr lang="en-US" dirty="0">
                <a:solidFill>
                  <a:prstClr val="black"/>
                </a:solidFill>
              </a:rPr>
              <a:t>actions? Why?</a:t>
            </a:r>
          </a:p>
          <a:p>
            <a:pPr marL="0" lvl="0" indent="-57150">
              <a:lnSpc>
                <a:spcPts val="2880"/>
              </a:lnSpc>
              <a:buClr>
                <a:prstClr val="black"/>
              </a:buClr>
              <a:buNone/>
              <a:defRPr/>
            </a:pPr>
            <a:endParaRPr lang="en-US" sz="2400" u="sng" dirty="0">
              <a:solidFill>
                <a:prstClr val="black"/>
              </a:solidFill>
            </a:endParaRPr>
          </a:p>
          <a:p>
            <a:pPr marL="0" lvl="0" indent="-57150">
              <a:lnSpc>
                <a:spcPts val="2880"/>
              </a:lnSpc>
              <a:buClr>
                <a:prstClr val="black"/>
              </a:buClr>
              <a:buNone/>
              <a:defRPr/>
            </a:pPr>
            <a:r>
              <a:rPr lang="en-US" sz="2400" b="1" i="1" dirty="0">
                <a:solidFill>
                  <a:prstClr val="black"/>
                </a:solidFill>
              </a:rPr>
              <a:t>What could/should </a:t>
            </a:r>
            <a:r>
              <a:rPr lang="en-US" sz="2400" b="1" i="1" dirty="0" smtClean="0">
                <a:solidFill>
                  <a:prstClr val="black"/>
                </a:solidFill>
              </a:rPr>
              <a:t>Amy</a:t>
            </a:r>
            <a:r>
              <a:rPr lang="en-US" sz="2400" b="1" i="1" dirty="0" smtClean="0">
                <a:solidFill>
                  <a:prstClr val="black"/>
                </a:solidFill>
              </a:rPr>
              <a:t> </a:t>
            </a:r>
            <a:r>
              <a:rPr lang="en-US" sz="2400" b="1" i="1" dirty="0">
                <a:solidFill>
                  <a:prstClr val="black"/>
                </a:solidFill>
              </a:rPr>
              <a:t>have done differently?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71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/>
              <a:t>A Dilemma?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13521"/>
          </a:xfrm>
        </p:spPr>
        <p:txBody>
          <a:bodyPr>
            <a:noAutofit/>
          </a:bodyPr>
          <a:lstStyle/>
          <a:p>
            <a:pPr marL="0" indent="0">
              <a:lnSpc>
                <a:spcPts val="2880"/>
              </a:lnSpc>
              <a:buClr>
                <a:srgbClr val="C00000"/>
              </a:buClr>
              <a:buNone/>
              <a:defRPr/>
            </a:pPr>
            <a:r>
              <a:rPr lang="en-US" sz="2400" b="1" u="sng" dirty="0"/>
              <a:t>Additional </a:t>
            </a:r>
            <a:r>
              <a:rPr lang="en-US" sz="2400" b="1" u="sng" dirty="0" smtClean="0"/>
              <a:t>Considerations:</a:t>
            </a:r>
            <a:endParaRPr lang="en-US" sz="2400" b="1" u="sng" dirty="0"/>
          </a:p>
          <a:p>
            <a:pPr marL="476250" indent="-210741">
              <a:lnSpc>
                <a:spcPts val="2880"/>
              </a:lnSpc>
              <a:defRPr/>
            </a:pPr>
            <a:r>
              <a:rPr lang="en-US" sz="2400" dirty="0"/>
              <a:t>The risk management internship in </a:t>
            </a:r>
            <a:r>
              <a:rPr lang="en-US" sz="2400" dirty="0" smtClean="0"/>
              <a:t>HK </a:t>
            </a:r>
            <a:r>
              <a:rPr lang="en-US" sz="2400" dirty="0"/>
              <a:t>was the “dream job” for several of </a:t>
            </a:r>
            <a:r>
              <a:rPr lang="en-US" sz="2400" dirty="0" smtClean="0"/>
              <a:t>Amy’s classmates </a:t>
            </a:r>
            <a:r>
              <a:rPr lang="en-US" sz="2400" dirty="0"/>
              <a:t>who </a:t>
            </a:r>
            <a:r>
              <a:rPr lang="en-US" sz="2400" dirty="0" smtClean="0"/>
              <a:t>got no </a:t>
            </a:r>
            <a:r>
              <a:rPr lang="en-US" sz="2400" dirty="0" smtClean="0"/>
              <a:t>offers; </a:t>
            </a:r>
            <a:r>
              <a:rPr lang="en-US" sz="2400" dirty="0"/>
              <a:t>how will this affect them? </a:t>
            </a:r>
          </a:p>
          <a:p>
            <a:pPr marL="476250" indent="-210741">
              <a:lnSpc>
                <a:spcPts val="2880"/>
              </a:lnSpc>
              <a:defRPr/>
            </a:pPr>
            <a:r>
              <a:rPr lang="en-US" sz="2400" dirty="0"/>
              <a:t>The risk management recruiter in </a:t>
            </a:r>
            <a:r>
              <a:rPr lang="en-US" sz="2400" dirty="0" smtClean="0"/>
              <a:t>HK </a:t>
            </a:r>
            <a:r>
              <a:rPr lang="en-US" sz="2400" dirty="0"/>
              <a:t>knows the recruiter at </a:t>
            </a:r>
            <a:r>
              <a:rPr lang="en-US" sz="2400" dirty="0" smtClean="0"/>
              <a:t>XYZ very </a:t>
            </a:r>
            <a:r>
              <a:rPr lang="en-US" sz="2400" dirty="0"/>
              <a:t>well, since they used to work together. What might happen now?</a:t>
            </a:r>
          </a:p>
          <a:p>
            <a:pPr marL="476250" indent="-210741">
              <a:lnSpc>
                <a:spcPts val="2880"/>
              </a:lnSpc>
              <a:defRPr/>
            </a:pPr>
            <a:r>
              <a:rPr lang="en-US" sz="2400" b="1" dirty="0"/>
              <a:t>Both firms may think less of the MSCF Program and stop recruiting</a:t>
            </a:r>
            <a:r>
              <a:rPr lang="mr-IN" sz="2400" b="1" dirty="0"/>
              <a:t>…</a:t>
            </a:r>
            <a:endParaRPr lang="en-US" sz="2400" b="1" dirty="0"/>
          </a:p>
          <a:p>
            <a:pPr>
              <a:lnSpc>
                <a:spcPts val="288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720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452"/>
            <a:ext cx="8229600" cy="1143000"/>
          </a:xfrm>
        </p:spPr>
        <p:txBody>
          <a:bodyPr>
            <a:noAutofit/>
          </a:bodyPr>
          <a:lstStyle/>
          <a:p>
            <a:r>
              <a:rPr lang="en-US" sz="4400" dirty="0"/>
              <a:t>MSCF Career Services </a:t>
            </a:r>
            <a:br>
              <a:rPr lang="en-US" sz="4400" dirty="0"/>
            </a:br>
            <a:r>
              <a:rPr lang="en-US" sz="4400" dirty="0"/>
              <a:t>Code of 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2440826"/>
            <a:ext cx="6172200" cy="2721211"/>
          </a:xfrm>
        </p:spPr>
        <p:txBody>
          <a:bodyPr>
            <a:normAutofit/>
          </a:bodyPr>
          <a:lstStyle/>
          <a:p>
            <a:pPr marL="603647" indent="-338138">
              <a:lnSpc>
                <a:spcPts val="2880"/>
              </a:lnSpc>
            </a:pPr>
            <a:r>
              <a:rPr lang="en-US" sz="2400" dirty="0"/>
              <a:t>Pass out Code and review contents</a:t>
            </a:r>
          </a:p>
          <a:p>
            <a:pPr marL="603647" indent="-338138">
              <a:lnSpc>
                <a:spcPts val="2880"/>
              </a:lnSpc>
            </a:pPr>
            <a:r>
              <a:rPr lang="en-US" sz="2400" dirty="0"/>
              <a:t>Students sign and return</a:t>
            </a:r>
          </a:p>
          <a:p>
            <a:pPr marL="603647" indent="-338138">
              <a:lnSpc>
                <a:spcPts val="2880"/>
              </a:lnSpc>
            </a:pPr>
            <a:r>
              <a:rPr lang="en-US" sz="2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3904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98571"/>
          </a:xfrm>
        </p:spPr>
        <p:txBody>
          <a:bodyPr>
            <a:noAutofit/>
          </a:bodyPr>
          <a:lstStyle/>
          <a:p>
            <a:pPr marL="0" lvl="1" indent="0" algn="ctr">
              <a:lnSpc>
                <a:spcPts val="2880"/>
              </a:lnSpc>
              <a:buNone/>
            </a:pPr>
            <a:r>
              <a:rPr lang="en-US" sz="2600" b="1" i="1" dirty="0"/>
              <a:t>Next Career Session: </a:t>
            </a:r>
            <a:r>
              <a:rPr lang="en-US" sz="2600" b="1" i="1" dirty="0" smtClean="0"/>
              <a:t>MSCF Recruiting Process</a:t>
            </a:r>
            <a:endParaRPr lang="en-US" b="1" i="1" dirty="0"/>
          </a:p>
          <a:p>
            <a:pPr marL="0" indent="0">
              <a:lnSpc>
                <a:spcPts val="2880"/>
              </a:lnSpc>
              <a:buNone/>
            </a:pPr>
            <a:r>
              <a:rPr lang="en-US" sz="2400" b="1" dirty="0" smtClean="0"/>
              <a:t>Career Coaches:</a:t>
            </a:r>
            <a:endParaRPr lang="en-US" sz="2400" b="1" dirty="0"/>
          </a:p>
          <a:p>
            <a:pPr lvl="1">
              <a:lnSpc>
                <a:spcPts val="2880"/>
              </a:lnSpc>
            </a:pPr>
            <a:r>
              <a:rPr lang="en-US" dirty="0" smtClean="0"/>
              <a:t>Vaishali Gakhar </a:t>
            </a:r>
            <a:r>
              <a:rPr lang="en-US" dirty="0"/>
              <a:t>(PGH): </a:t>
            </a:r>
            <a:r>
              <a:rPr lang="en-US" u="sng" dirty="0" smtClean="0">
                <a:hlinkClick r:id="rId2"/>
              </a:rPr>
              <a:t>vgakhar@andrew.cmu.edu</a:t>
            </a:r>
            <a:endParaRPr lang="en-US" dirty="0" smtClean="0"/>
          </a:p>
          <a:p>
            <a:pPr lvl="1">
              <a:lnSpc>
                <a:spcPts val="2880"/>
              </a:lnSpc>
            </a:pPr>
            <a:r>
              <a:rPr lang="en-US" dirty="0" smtClean="0"/>
              <a:t>Sondi </a:t>
            </a:r>
            <a:r>
              <a:rPr lang="en-US" dirty="0"/>
              <a:t>Pripstein (NY): </a:t>
            </a:r>
            <a:r>
              <a:rPr lang="en-US" dirty="0">
                <a:hlinkClick r:id="rId3"/>
              </a:rPr>
              <a:t>sondip@cmu.edu</a:t>
            </a:r>
            <a:endParaRPr lang="en-US" sz="2400" b="1" dirty="0"/>
          </a:p>
          <a:p>
            <a:pPr marL="0" indent="0">
              <a:lnSpc>
                <a:spcPts val="2880"/>
              </a:lnSpc>
              <a:buNone/>
            </a:pPr>
            <a:r>
              <a:rPr lang="en-US" sz="2400" b="1" dirty="0"/>
              <a:t>Recruiting Coordinator:</a:t>
            </a:r>
          </a:p>
          <a:p>
            <a:pPr lvl="1">
              <a:lnSpc>
                <a:spcPts val="2880"/>
              </a:lnSpc>
            </a:pPr>
            <a:r>
              <a:rPr lang="en-US" dirty="0"/>
              <a:t>Queeta Welch (NY): </a:t>
            </a:r>
            <a:r>
              <a:rPr lang="en-US" dirty="0">
                <a:hlinkClick r:id="rId4"/>
              </a:rPr>
              <a:t>qhw@cmu.edu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lnSpc>
                <a:spcPts val="2880"/>
              </a:lnSpc>
              <a:buNone/>
            </a:pPr>
            <a:r>
              <a:rPr lang="en-US" sz="2400" b="1" dirty="0" smtClean="0"/>
              <a:t>Administrative Coordinator</a:t>
            </a:r>
            <a:r>
              <a:rPr lang="en-US" sz="2400" b="1" dirty="0"/>
              <a:t>:</a:t>
            </a:r>
          </a:p>
          <a:p>
            <a:pPr lvl="1">
              <a:lnSpc>
                <a:spcPts val="2880"/>
              </a:lnSpc>
            </a:pPr>
            <a:r>
              <a:rPr lang="en-US" dirty="0" smtClean="0"/>
              <a:t>Natalie Kasievich </a:t>
            </a:r>
            <a:r>
              <a:rPr lang="en-US" dirty="0"/>
              <a:t>(</a:t>
            </a:r>
            <a:r>
              <a:rPr lang="en-US" dirty="0" smtClean="0"/>
              <a:t>PGH):</a:t>
            </a:r>
            <a:r>
              <a:rPr lang="en-US" u="sng" dirty="0" smtClean="0">
                <a:hlinkClick r:id="rId5"/>
              </a:rPr>
              <a:t>nkasievi@andrew.cmu.edu</a:t>
            </a:r>
            <a:endParaRPr lang="en-US" dirty="0"/>
          </a:p>
          <a:p>
            <a:pPr>
              <a:lnSpc>
                <a:spcPts val="2880"/>
              </a:lnSpc>
            </a:pPr>
            <a:endParaRPr lang="en-US" sz="2400" dirty="0"/>
          </a:p>
          <a:p>
            <a:pPr>
              <a:lnSpc>
                <a:spcPts val="288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008401"/>
      </p:ext>
    </p:extLst>
  </p:cSld>
  <p:clrMapOvr>
    <a:masterClrMapping/>
  </p:clrMapOvr>
</p:sld>
</file>

<file path=ppt/theme/theme1.xml><?xml version="1.0" encoding="utf-8"?>
<a:theme xmlns:a="http://schemas.openxmlformats.org/drawingml/2006/main" name="MSCF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spiration">
      <a:majorFont>
        <a:latin typeface="News Gothic MT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SCF Presentations Template" id="{DF25B8C7-B0D0-F34B-99C2-D7932C23C48D}" vid="{2C395698-2D06-E240-B50C-03FD625D4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C50D7095-1D85-EC48-B0AD-191A206BF1DA}">
  <we:reference id="wa104221182" version="2.0.0.0" store="en-US" storeType="OMEX"/>
  <we:alternateReferences>
    <we:reference id="WA104221182" version="2.0.0.0" store="WA104221182" storeType="OMEX"/>
  </we:alternateReferences>
  <we:properties>
    <we:property name="autoplay" value="0"/>
    <we:property name="endtime" value="null"/>
    <we:property name="starttime" value="0"/>
    <we:property name="vid" value="&quot;https://www.youtube.com/watch?v=b56eAUCTLok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MSCF Theme</Template>
  <TotalTime>1339</TotalTime>
  <Words>786</Words>
  <Application>Microsoft Macintosh PowerPoint</Application>
  <PresentationFormat>On-screen Show (4:3)</PresentationFormat>
  <Paragraphs>84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News Gothic MT</vt:lpstr>
      <vt:lpstr>Wingdings</vt:lpstr>
      <vt:lpstr>ヒラギノ角ゴ Pro W3</vt:lpstr>
      <vt:lpstr>Arial</vt:lpstr>
      <vt:lpstr>MSCF Theme</vt:lpstr>
      <vt:lpstr>MSCF Career Services  Code of Conduct</vt:lpstr>
      <vt:lpstr>PowerPoint Presentation</vt:lpstr>
      <vt:lpstr>Recruiting Ethics</vt:lpstr>
      <vt:lpstr>Recruiting Ethics</vt:lpstr>
      <vt:lpstr>Recruiting Ethics/Consequences</vt:lpstr>
      <vt:lpstr>A Dilemma?</vt:lpstr>
      <vt:lpstr>A Dilemma?</vt:lpstr>
      <vt:lpstr>A Dilemma?</vt:lpstr>
      <vt:lpstr>A Dilemma?</vt:lpstr>
      <vt:lpstr>A Dilemma?</vt:lpstr>
      <vt:lpstr>A Dilemma?</vt:lpstr>
      <vt:lpstr>MSCF Career Services  Code of Conduct</vt:lpstr>
      <vt:lpstr>Questions?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MSCF Career Services  Code of Conduct</dc:title>
  <dc:creator>Microsoft Office User</dc:creator>
  <cp:lastModifiedBy>sondip</cp:lastModifiedBy>
  <cp:revision>36</cp:revision>
  <cp:lastPrinted>2019-07-26T17:36:13Z</cp:lastPrinted>
  <dcterms:created xsi:type="dcterms:W3CDTF">2018-06-14T19:36:24Z</dcterms:created>
  <dcterms:modified xsi:type="dcterms:W3CDTF">2019-07-31T12:30:50Z</dcterms:modified>
</cp:coreProperties>
</file>