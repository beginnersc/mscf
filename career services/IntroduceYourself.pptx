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57" r:id="rId4"/>
    <p:sldId id="259" r:id="rId5"/>
    <p:sldId id="260" r:id="rId6"/>
    <p:sldId id="261" r:id="rId7"/>
    <p:sldId id="265" r:id="rId8"/>
    <p:sldId id="269" r:id="rId9"/>
    <p:sldId id="271" r:id="rId10"/>
    <p:sldId id="272" r:id="rId11"/>
    <p:sldId id="273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>
        <p:scale>
          <a:sx n="124" d="100"/>
          <a:sy n="124" d="100"/>
        </p:scale>
        <p:origin x="-1746" y="-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3AA69-A7A0-46D4-A7F5-4734A7A14B2C}" type="datetimeFigureOut">
              <a:rPr lang="en-US" smtClean="0"/>
              <a:t>8/5/2020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6CE3D-C77D-4130-BE89-E68FBFA70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539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3AA69-A7A0-46D4-A7F5-4734A7A14B2C}" type="datetimeFigureOut">
              <a:rPr lang="en-US" smtClean="0"/>
              <a:t>8/5/2020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6CE3D-C77D-4130-BE89-E68FBFA70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077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3AA69-A7A0-46D4-A7F5-4734A7A14B2C}" type="datetimeFigureOut">
              <a:rPr lang="en-US" smtClean="0"/>
              <a:t>8/5/2020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6CE3D-C77D-4130-BE89-E68FBFA70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985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3AA69-A7A0-46D4-A7F5-4734A7A14B2C}" type="datetimeFigureOut">
              <a:rPr lang="en-US" smtClean="0"/>
              <a:t>8/5/2020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6CE3D-C77D-4130-BE89-E68FBFA70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510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3AA69-A7A0-46D4-A7F5-4734A7A14B2C}" type="datetimeFigureOut">
              <a:rPr lang="en-US" smtClean="0"/>
              <a:t>8/5/2020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6CE3D-C77D-4130-BE89-E68FBFA70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304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3AA69-A7A0-46D4-A7F5-4734A7A14B2C}" type="datetimeFigureOut">
              <a:rPr lang="en-US" smtClean="0"/>
              <a:t>8/5/2020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6CE3D-C77D-4130-BE89-E68FBFA70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902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3AA69-A7A0-46D4-A7F5-4734A7A14B2C}" type="datetimeFigureOut">
              <a:rPr lang="en-US" smtClean="0"/>
              <a:t>8/5/2020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6CE3D-C77D-4130-BE89-E68FBFA70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698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3AA69-A7A0-46D4-A7F5-4734A7A14B2C}" type="datetimeFigureOut">
              <a:rPr lang="en-US" smtClean="0"/>
              <a:t>8/5/2020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6CE3D-C77D-4130-BE89-E68FBFA70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515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3AA69-A7A0-46D4-A7F5-4734A7A14B2C}" type="datetimeFigureOut">
              <a:rPr lang="en-US" smtClean="0"/>
              <a:t>8/5/2020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6CE3D-C77D-4130-BE89-E68FBFA70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486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3AA69-A7A0-46D4-A7F5-4734A7A14B2C}" type="datetimeFigureOut">
              <a:rPr lang="en-US" smtClean="0"/>
              <a:t>8/5/2020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6CE3D-C77D-4130-BE89-E68FBFA70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744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3AA69-A7A0-46D4-A7F5-4734A7A14B2C}" type="datetimeFigureOut">
              <a:rPr lang="en-US" smtClean="0"/>
              <a:t>8/5/2020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6CE3D-C77D-4130-BE89-E68FBFA70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647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C3AA69-A7A0-46D4-A7F5-4734A7A14B2C}" type="datetimeFigureOut">
              <a:rPr lang="en-US" smtClean="0"/>
              <a:t>8/5/2020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D6CE3D-C77D-4130-BE89-E68FBFA70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186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13800" b="1" dirty="0" smtClean="0">
                <a:solidFill>
                  <a:srgbClr val="FF0000"/>
                </a:solidFill>
              </a:rPr>
              <a:t>HOWDY!</a:t>
            </a:r>
            <a:endParaRPr lang="en-US" sz="13800" b="1" dirty="0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4437" y="3751159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878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22" y="365126"/>
            <a:ext cx="10417277" cy="64514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chemeClr val="accent1"/>
                </a:solidFill>
                <a:latin typeface="+mn-lt"/>
              </a:rPr>
              <a:t>Take a tip from </a:t>
            </a:r>
            <a:r>
              <a:rPr lang="en-US" b="1" dirty="0" err="1" smtClean="0">
                <a:solidFill>
                  <a:schemeClr val="accent1"/>
                </a:solidFill>
                <a:latin typeface="+mn-lt"/>
              </a:rPr>
              <a:t>OkCupid</a:t>
            </a:r>
            <a:endParaRPr lang="en-US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4290" y="1098755"/>
            <a:ext cx="10579510" cy="5078208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 smtClean="0"/>
              <a:t>(3.5 million users)</a:t>
            </a:r>
          </a:p>
          <a:p>
            <a:pPr marL="0" indent="0" algn="ctr">
              <a:buNone/>
            </a:pPr>
            <a:r>
              <a:rPr lang="en-US" dirty="0" smtClean="0"/>
              <a:t>Data analysis suggests that men who begin their message with “howdy” have a 40% higher success rate than those who begin with “hi.”  </a:t>
            </a:r>
          </a:p>
          <a:p>
            <a:pPr marL="0" indent="0" algn="ctr">
              <a:buNone/>
            </a:pPr>
            <a:endParaRPr lang="en-US" dirty="0" smtClean="0"/>
          </a:p>
          <a:p>
            <a:pPr marL="0" indent="0" algn="ctr">
              <a:buNone/>
            </a:pPr>
            <a:r>
              <a:rPr lang="en-US" dirty="0" smtClean="0"/>
              <a:t>Q: Why does this happen?  A:It isn’t trite.</a:t>
            </a:r>
          </a:p>
          <a:p>
            <a:pPr marL="0" indent="0" algn="ctr">
              <a:buNone/>
            </a:pPr>
            <a:r>
              <a:rPr lang="en-US" dirty="0" smtClean="0"/>
              <a:t>(The best include “how’s it going?”)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3597" y="4242927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623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776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Do something </a:t>
            </a:r>
            <a:r>
              <a:rPr lang="en-US" sz="6000" b="1" dirty="0" smtClean="0">
                <a:latin typeface="Goudy Stout" panose="0202090407030B020401" pitchFamily="18" charset="0"/>
              </a:rPr>
              <a:t>“ODD”</a:t>
            </a:r>
            <a:endParaRPr lang="en-US" sz="6000" b="1" dirty="0">
              <a:latin typeface="Goudy Stout" panose="0202090407030B020401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43000"/>
            <a:ext cx="10515600" cy="5033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dirty="0" smtClean="0"/>
              <a:t>Neurobiologists Dr. Nico </a:t>
            </a:r>
            <a:r>
              <a:rPr lang="en-US" sz="2400" dirty="0" err="1" smtClean="0"/>
              <a:t>Bunzeck</a:t>
            </a:r>
            <a:r>
              <a:rPr lang="en-US" sz="2400" dirty="0" smtClean="0"/>
              <a:t> and Dr. </a:t>
            </a:r>
            <a:r>
              <a:rPr lang="en-US" sz="2400" dirty="0" err="1" smtClean="0"/>
              <a:t>Emrah</a:t>
            </a:r>
            <a:r>
              <a:rPr lang="en-US" sz="2400" dirty="0" smtClean="0"/>
              <a:t> </a:t>
            </a:r>
            <a:r>
              <a:rPr lang="en-US" sz="2400" dirty="0" err="1" smtClean="0"/>
              <a:t>Duzel</a:t>
            </a:r>
            <a:r>
              <a:rPr lang="en-US" sz="2400" dirty="0" smtClean="0"/>
              <a:t> conducted the “Oddball Experiments” wherein they showed people a series of images and scanned their brains at the same time with fMRI. Most images were common faces and scenes, but some were odd.  </a:t>
            </a:r>
            <a:endParaRPr lang="en-US" sz="2400" dirty="0" smtClean="0">
              <a:solidFill>
                <a:srgbClr val="FF0000"/>
              </a:solidFill>
            </a:endParaRPr>
          </a:p>
          <a:p>
            <a:pPr algn="ctr"/>
            <a:r>
              <a:rPr lang="en-US" sz="2400" dirty="0" smtClean="0">
                <a:solidFill>
                  <a:srgbClr val="FF0000"/>
                </a:solidFill>
              </a:rPr>
              <a:t>The oddball images activated the areas of the brain for learning and memory.</a:t>
            </a:r>
          </a:p>
          <a:p>
            <a:pPr algn="ctr"/>
            <a:r>
              <a:rPr lang="en-US" sz="2400" dirty="0" smtClean="0">
                <a:solidFill>
                  <a:srgbClr val="FF0000"/>
                </a:solidFill>
              </a:rPr>
              <a:t>The oddball images activated areas that release dopamine, feel good!</a:t>
            </a:r>
          </a:p>
          <a:p>
            <a:pPr algn="ctr"/>
            <a:r>
              <a:rPr lang="en-US" sz="2400" dirty="0" smtClean="0">
                <a:solidFill>
                  <a:srgbClr val="FF0000"/>
                </a:solidFill>
              </a:rPr>
              <a:t>The oddball images activated a desire to explore more.</a:t>
            </a:r>
            <a:endParaRPr lang="en-US" sz="2400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0295" y="4321277"/>
            <a:ext cx="7238989" cy="1995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221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solidFill>
                  <a:srgbClr val="7030A0"/>
                </a:solidFill>
                <a:latin typeface="+mn-lt"/>
              </a:rPr>
              <a:t>Here’s another tip from </a:t>
            </a:r>
            <a:r>
              <a:rPr lang="en-US" b="1" dirty="0" err="1" smtClean="0">
                <a:solidFill>
                  <a:srgbClr val="7030A0"/>
                </a:solidFill>
                <a:latin typeface="+mn-lt"/>
              </a:rPr>
              <a:t>OkCupid</a:t>
            </a:r>
            <a:r>
              <a:rPr lang="en-US" b="1" dirty="0" smtClean="0">
                <a:solidFill>
                  <a:srgbClr val="7030A0"/>
                </a:solidFill>
                <a:latin typeface="+mn-lt"/>
              </a:rPr>
              <a:t>.</a:t>
            </a:r>
            <a:endParaRPr lang="en-US" b="1" dirty="0">
              <a:solidFill>
                <a:srgbClr val="7030A0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Bring up </a:t>
            </a:r>
            <a:r>
              <a:rPr lang="en-US" b="1" u="sng" dirty="0" smtClean="0">
                <a:solidFill>
                  <a:srgbClr val="FF0000"/>
                </a:solidFill>
              </a:rPr>
              <a:t>specific </a:t>
            </a:r>
            <a:r>
              <a:rPr lang="en-US" dirty="0" smtClean="0"/>
              <a:t>interests. Generic bores.</a:t>
            </a:r>
          </a:p>
          <a:p>
            <a:r>
              <a:rPr lang="en-US" b="1" dirty="0" smtClean="0">
                <a:solidFill>
                  <a:srgbClr val="92D050"/>
                </a:solidFill>
              </a:rPr>
              <a:t>“I’m a vegetarian.”</a:t>
            </a:r>
          </a:p>
          <a:p>
            <a:r>
              <a:rPr lang="en-US" dirty="0" smtClean="0">
                <a:solidFill>
                  <a:srgbClr val="7030A0"/>
                </a:solidFill>
              </a:rPr>
              <a:t>“I LOVE Metallica.”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“My name means “</a:t>
            </a:r>
            <a:r>
              <a:rPr lang="en-US" b="1" dirty="0" smtClean="0">
                <a:solidFill>
                  <a:srgbClr val="00B050"/>
                </a:solidFill>
              </a:rPr>
              <a:t>guardian of wealth</a:t>
            </a:r>
            <a:r>
              <a:rPr lang="en-US" dirty="0" smtClean="0">
                <a:solidFill>
                  <a:srgbClr val="FF0000"/>
                </a:solidFill>
              </a:rPr>
              <a:t>.”</a:t>
            </a:r>
          </a:p>
          <a:p>
            <a:r>
              <a:rPr lang="en-US" b="1" dirty="0" smtClean="0"/>
              <a:t>“TSA took the handcuffs from my suitcase.”</a:t>
            </a:r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9865" y="1825625"/>
            <a:ext cx="2372032" cy="237203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7252" y="4530521"/>
            <a:ext cx="3060290" cy="209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967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514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latin typeface="+mn-lt"/>
              </a:rPr>
              <a:t>Specific works.</a:t>
            </a:r>
            <a:endParaRPr lang="en-US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Researchers hired actors to stand on a corner and ask either:</a:t>
            </a:r>
          </a:p>
          <a:p>
            <a:r>
              <a:rPr lang="en-US" dirty="0" smtClean="0"/>
              <a:t>Can you spare any change?</a:t>
            </a:r>
          </a:p>
          <a:p>
            <a:r>
              <a:rPr lang="en-US" dirty="0" smtClean="0"/>
              <a:t>Can you spare a quarter?</a:t>
            </a:r>
          </a:p>
          <a:p>
            <a:r>
              <a:rPr lang="en-US" dirty="0" smtClean="0"/>
              <a:t>Can you spare 37 cents?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#1 – </a:t>
            </a:r>
            <a:r>
              <a:rPr lang="en-US" b="1" dirty="0" smtClean="0"/>
              <a:t>44% of people gave</a:t>
            </a:r>
          </a:p>
          <a:p>
            <a:pPr marL="0" indent="0">
              <a:buNone/>
            </a:pPr>
            <a:r>
              <a:rPr lang="en-US" dirty="0" smtClean="0"/>
              <a:t>#2 – </a:t>
            </a:r>
            <a:r>
              <a:rPr lang="en-US" dirty="0" smtClean="0">
                <a:solidFill>
                  <a:srgbClr val="0070C0"/>
                </a:solidFill>
              </a:rPr>
              <a:t>64% of people gave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#3 – </a:t>
            </a:r>
            <a:r>
              <a:rPr lang="en-US" b="1" dirty="0" smtClean="0">
                <a:solidFill>
                  <a:srgbClr val="FF0000"/>
                </a:solidFill>
              </a:rPr>
              <a:t>75% of people gave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0208" y="2570547"/>
            <a:ext cx="4579023" cy="257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118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latin typeface="+mn-lt"/>
              </a:rPr>
              <a:t>What works best?</a:t>
            </a:r>
            <a:endParaRPr lang="en-US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dirty="0" smtClean="0"/>
              <a:t>I’m a teacher.</a:t>
            </a:r>
          </a:p>
          <a:p>
            <a:pPr algn="ctr"/>
            <a:r>
              <a:rPr lang="en-US" dirty="0" smtClean="0"/>
              <a:t>I work with graduate students and business people.</a:t>
            </a:r>
          </a:p>
          <a:p>
            <a:pPr algn="ctr"/>
            <a:r>
              <a:rPr lang="en-US" dirty="0" smtClean="0">
                <a:solidFill>
                  <a:srgbClr val="FF0000"/>
                </a:solidFill>
              </a:rPr>
              <a:t>I have taught people from Mexico, India, China, Japan at CMU for over 25 years and in companies like Cognizant and Cinepolis.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5" name="Picture 1" descr="C:\Users\edbarr\Desktop\Ed Stuff\Ed Barr ActionPhoto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31343" y="3913034"/>
            <a:ext cx="5164584" cy="279748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77804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latin typeface="+mn-lt"/>
              </a:rPr>
              <a:t>Remember “Rapid Cognition.”</a:t>
            </a:r>
            <a:endParaRPr lang="en-US" b="1" dirty="0">
              <a:latin typeface="+mn-lt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2875" y="2586831"/>
            <a:ext cx="4286250" cy="282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562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It’s all stories.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6000" y="2329000"/>
            <a:ext cx="4200000" cy="22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846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smtClean="0"/>
              <a:t>What do the experts say about storytelling?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0958" y="2125267"/>
            <a:ext cx="6094885" cy="2885498"/>
          </a:xfrm>
        </p:spPr>
      </p:pic>
      <p:sp>
        <p:nvSpPr>
          <p:cNvPr id="5" name="Oval 4"/>
          <p:cNvSpPr/>
          <p:nvPr/>
        </p:nvSpPr>
        <p:spPr>
          <a:xfrm>
            <a:off x="5517127" y="2367117"/>
            <a:ext cx="3932288" cy="86278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27593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2430" y="2125266"/>
            <a:ext cx="5187143" cy="2724132"/>
          </a:xfrm>
        </p:spPr>
      </p:pic>
      <p:sp>
        <p:nvSpPr>
          <p:cNvPr id="6" name="Left Arrow 5"/>
          <p:cNvSpPr/>
          <p:nvPr/>
        </p:nvSpPr>
        <p:spPr>
          <a:xfrm>
            <a:off x="8946127" y="2223321"/>
            <a:ext cx="1414076" cy="66367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1801985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8929" y="479324"/>
            <a:ext cx="10704871" cy="569764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 smtClean="0"/>
              <a:t>“Since </a:t>
            </a:r>
            <a:r>
              <a:rPr lang="en-US" dirty="0"/>
              <a:t>motor actions enhance memory (enactment effect), it seems reasonable to expect that gesturing may also affect memory encoding and retrieval. Supporting this notion, a number of studies have found that memory is enhanced in participants who observe a speaker who is also gesturing compared to observing a speaker who is not </a:t>
            </a:r>
            <a:r>
              <a:rPr lang="en-US" dirty="0" smtClean="0"/>
              <a:t>gesturing….(e.g</a:t>
            </a:r>
            <a:r>
              <a:rPr lang="en-US" dirty="0"/>
              <a:t>., Thompson, 1995; Kelly et al., 1999).  </a:t>
            </a:r>
            <a:endParaRPr lang="en-US" dirty="0" smtClean="0"/>
          </a:p>
          <a:p>
            <a:endParaRPr lang="en-US" sz="1100" dirty="0"/>
          </a:p>
          <a:p>
            <a:pPr marL="0" indent="0" algn="ctr">
              <a:buNone/>
            </a:pPr>
            <a:r>
              <a:rPr lang="en-US" sz="1800" dirty="0" smtClean="0"/>
              <a:t>“Using </a:t>
            </a:r>
            <a:r>
              <a:rPr lang="en-US" sz="1800" dirty="0"/>
              <a:t>actions to enhance memory: effects of enactment, gestures, and exercise on human </a:t>
            </a:r>
            <a:r>
              <a:rPr lang="en-US" sz="1800" dirty="0" smtClean="0"/>
              <a:t>memory.” Christopher </a:t>
            </a:r>
            <a:r>
              <a:rPr lang="en-US" sz="1800" dirty="0"/>
              <a:t>R. </a:t>
            </a:r>
            <a:r>
              <a:rPr lang="en-US" sz="1800" dirty="0" smtClean="0"/>
              <a:t>Madan</a:t>
            </a:r>
            <a:r>
              <a:rPr lang="en-US" sz="1800" baseline="30000" dirty="0"/>
              <a:t> </a:t>
            </a:r>
            <a:r>
              <a:rPr lang="en-US" sz="1800" dirty="0" smtClean="0"/>
              <a:t>and</a:t>
            </a:r>
            <a:r>
              <a:rPr lang="en-US" sz="1800" dirty="0"/>
              <a:t> Anthony </a:t>
            </a:r>
            <a:r>
              <a:rPr lang="en-US" sz="1800" dirty="0" err="1" smtClean="0"/>
              <a:t>Singhal</a:t>
            </a:r>
            <a:endParaRPr lang="en-US" sz="1800" dirty="0"/>
          </a:p>
          <a:p>
            <a:endParaRPr lang="en-US" sz="11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8450" y="4077929"/>
            <a:ext cx="3205827" cy="2014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0264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3263" y="365125"/>
            <a:ext cx="9525650" cy="6059875"/>
          </a:xfrm>
        </p:spPr>
      </p:pic>
    </p:spTree>
    <p:extLst>
      <p:ext uri="{BB962C8B-B14F-4D97-AF65-F5344CB8AC3E}">
        <p14:creationId xmlns:p14="http://schemas.microsoft.com/office/powerpoint/2010/main" val="842988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6171</TotalTime>
  <Words>371</Words>
  <Application>Microsoft Office PowerPoint</Application>
  <PresentationFormat>自訂</PresentationFormat>
  <Paragraphs>37</Paragraphs>
  <Slides>12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3" baseType="lpstr">
      <vt:lpstr>Office Theme</vt:lpstr>
      <vt:lpstr>HOWDY!</vt:lpstr>
      <vt:lpstr>Take a tip from OkCupid</vt:lpstr>
      <vt:lpstr>Do something “ODD”</vt:lpstr>
      <vt:lpstr>Here’s another tip from OkCupid.</vt:lpstr>
      <vt:lpstr>Specific works.</vt:lpstr>
      <vt:lpstr>What works best?</vt:lpstr>
      <vt:lpstr>Remember “Rapid Cognition.”</vt:lpstr>
      <vt:lpstr>It’s all stories.</vt:lpstr>
      <vt:lpstr>What do the experts say about storytelling?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Introduce Yourself!</dc:title>
  <dc:creator>edbarr</dc:creator>
  <cp:lastModifiedBy>yuan</cp:lastModifiedBy>
  <cp:revision>27</cp:revision>
  <dcterms:created xsi:type="dcterms:W3CDTF">2018-07-05T12:46:10Z</dcterms:created>
  <dcterms:modified xsi:type="dcterms:W3CDTF">2020-08-06T01:14:49Z</dcterms:modified>
</cp:coreProperties>
</file>