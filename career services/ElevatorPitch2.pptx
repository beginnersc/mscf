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7" r:id="rId3"/>
    <p:sldId id="258" r:id="rId4"/>
    <p:sldId id="260" r:id="rId5"/>
    <p:sldId id="262" r:id="rId6"/>
    <p:sldId id="280" r:id="rId7"/>
    <p:sldId id="265" r:id="rId8"/>
    <p:sldId id="271" r:id="rId9"/>
    <p:sldId id="272" r:id="rId10"/>
    <p:sldId id="274" r:id="rId11"/>
    <p:sldId id="257" r:id="rId12"/>
    <p:sldId id="275" r:id="rId13"/>
    <p:sldId id="278" r:id="rId14"/>
    <p:sldId id="281" r:id="rId15"/>
    <p:sldId id="27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65" d="100"/>
          <a:sy n="65" d="100"/>
        </p:scale>
        <p:origin x="726"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DC1310-291C-4434-9976-37E7062EA2F0}" type="datetimeFigureOut">
              <a:rPr lang="en-US" smtClean="0"/>
              <a:t>8/15/2018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C36904-2DCE-49FA-BFAC-92D019583222}" type="slidenum">
              <a:rPr lang="en-US" smtClean="0"/>
              <a:t>‹#›</a:t>
            </a:fld>
            <a:endParaRPr lang="en-US"/>
          </a:p>
        </p:txBody>
      </p:sp>
    </p:spTree>
    <p:extLst>
      <p:ext uri="{BB962C8B-B14F-4D97-AF65-F5344CB8AC3E}">
        <p14:creationId xmlns:p14="http://schemas.microsoft.com/office/powerpoint/2010/main" val="2710786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B1688A-6BA1-4396-9FA0-8FEC3A7CA510}" type="slidenum">
              <a:rPr lang="en-US" smtClean="0"/>
              <a:pPr/>
              <a:t>7</a:t>
            </a:fld>
            <a:endParaRPr lang="en-US"/>
          </a:p>
        </p:txBody>
      </p:sp>
    </p:spTree>
    <p:extLst>
      <p:ext uri="{BB962C8B-B14F-4D97-AF65-F5344CB8AC3E}">
        <p14:creationId xmlns:p14="http://schemas.microsoft.com/office/powerpoint/2010/main" val="3990355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CD92041-EE5A-4370-B6BE-BCAB9916105D}" type="datetimeFigureOut">
              <a:rPr lang="en-US" smtClean="0"/>
              <a:t>8/15/2018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E69FD-D86E-4F92-82BC-5919D1A18A5F}" type="slidenum">
              <a:rPr lang="en-US" smtClean="0"/>
              <a:t>‹#›</a:t>
            </a:fld>
            <a:endParaRPr lang="en-US"/>
          </a:p>
        </p:txBody>
      </p:sp>
    </p:spTree>
    <p:extLst>
      <p:ext uri="{BB962C8B-B14F-4D97-AF65-F5344CB8AC3E}">
        <p14:creationId xmlns:p14="http://schemas.microsoft.com/office/powerpoint/2010/main" val="2054869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D92041-EE5A-4370-B6BE-BCAB9916105D}" type="datetimeFigureOut">
              <a:rPr lang="en-US" smtClean="0"/>
              <a:t>8/15/2018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E69FD-D86E-4F92-82BC-5919D1A18A5F}" type="slidenum">
              <a:rPr lang="en-US" smtClean="0"/>
              <a:t>‹#›</a:t>
            </a:fld>
            <a:endParaRPr lang="en-US"/>
          </a:p>
        </p:txBody>
      </p:sp>
    </p:spTree>
    <p:extLst>
      <p:ext uri="{BB962C8B-B14F-4D97-AF65-F5344CB8AC3E}">
        <p14:creationId xmlns:p14="http://schemas.microsoft.com/office/powerpoint/2010/main" val="864009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D92041-EE5A-4370-B6BE-BCAB9916105D}" type="datetimeFigureOut">
              <a:rPr lang="en-US" smtClean="0"/>
              <a:t>8/15/2018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E69FD-D86E-4F92-82BC-5919D1A18A5F}" type="slidenum">
              <a:rPr lang="en-US" smtClean="0"/>
              <a:t>‹#›</a:t>
            </a:fld>
            <a:endParaRPr lang="en-US"/>
          </a:p>
        </p:txBody>
      </p:sp>
    </p:spTree>
    <p:extLst>
      <p:ext uri="{BB962C8B-B14F-4D97-AF65-F5344CB8AC3E}">
        <p14:creationId xmlns:p14="http://schemas.microsoft.com/office/powerpoint/2010/main" val="2168837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CD92041-EE5A-4370-B6BE-BCAB9916105D}" type="datetimeFigureOut">
              <a:rPr lang="en-US" smtClean="0"/>
              <a:t>8/15/2018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CE69FD-D86E-4F92-82BC-5919D1A18A5F}" type="slidenum">
              <a:rPr lang="en-US" smtClean="0"/>
              <a:t>‹#›</a:t>
            </a:fld>
            <a:endParaRPr lang="en-US"/>
          </a:p>
        </p:txBody>
      </p:sp>
    </p:spTree>
    <p:extLst>
      <p:ext uri="{BB962C8B-B14F-4D97-AF65-F5344CB8AC3E}">
        <p14:creationId xmlns:p14="http://schemas.microsoft.com/office/powerpoint/2010/main" val="3839646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CD92041-EE5A-4370-B6BE-BCAB9916105D}" type="datetimeFigureOut">
              <a:rPr lang="en-US" smtClean="0"/>
              <a:t>8/15/2018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CE69FD-D86E-4F92-82BC-5919D1A18A5F}" type="slidenum">
              <a:rPr lang="en-US" smtClean="0"/>
              <a:t>‹#›</a:t>
            </a:fld>
            <a:endParaRPr lang="en-US"/>
          </a:p>
        </p:txBody>
      </p:sp>
    </p:spTree>
    <p:extLst>
      <p:ext uri="{BB962C8B-B14F-4D97-AF65-F5344CB8AC3E}">
        <p14:creationId xmlns:p14="http://schemas.microsoft.com/office/powerpoint/2010/main" val="1198575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CD92041-EE5A-4370-B6BE-BCAB9916105D}" type="datetimeFigureOut">
              <a:rPr lang="en-US" smtClean="0"/>
              <a:t>8/15/2018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CE69FD-D86E-4F92-82BC-5919D1A18A5F}" type="slidenum">
              <a:rPr lang="en-US" smtClean="0"/>
              <a:t>‹#›</a:t>
            </a:fld>
            <a:endParaRPr lang="en-US"/>
          </a:p>
        </p:txBody>
      </p:sp>
    </p:spTree>
    <p:extLst>
      <p:ext uri="{BB962C8B-B14F-4D97-AF65-F5344CB8AC3E}">
        <p14:creationId xmlns:p14="http://schemas.microsoft.com/office/powerpoint/2010/main" val="598645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D92041-EE5A-4370-B6BE-BCAB9916105D}" type="datetimeFigureOut">
              <a:rPr lang="en-US" smtClean="0"/>
              <a:t>8/15/2018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CE69FD-D86E-4F92-82BC-5919D1A18A5F}" type="slidenum">
              <a:rPr lang="en-US" smtClean="0"/>
              <a:t>‹#›</a:t>
            </a:fld>
            <a:endParaRPr lang="en-US"/>
          </a:p>
        </p:txBody>
      </p:sp>
    </p:spTree>
    <p:extLst>
      <p:ext uri="{BB962C8B-B14F-4D97-AF65-F5344CB8AC3E}">
        <p14:creationId xmlns:p14="http://schemas.microsoft.com/office/powerpoint/2010/main" val="2524985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CD92041-EE5A-4370-B6BE-BCAB9916105D}" type="datetimeFigureOut">
              <a:rPr lang="en-US" smtClean="0"/>
              <a:t>8/15/2018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CE69FD-D86E-4F92-82BC-5919D1A18A5F}" type="slidenum">
              <a:rPr lang="en-US" smtClean="0"/>
              <a:t>‹#›</a:t>
            </a:fld>
            <a:endParaRPr lang="en-US"/>
          </a:p>
        </p:txBody>
      </p:sp>
    </p:spTree>
    <p:extLst>
      <p:ext uri="{BB962C8B-B14F-4D97-AF65-F5344CB8AC3E}">
        <p14:creationId xmlns:p14="http://schemas.microsoft.com/office/powerpoint/2010/main" val="1188676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CD92041-EE5A-4370-B6BE-BCAB9916105D}" type="datetimeFigureOut">
              <a:rPr lang="en-US" smtClean="0"/>
              <a:t>8/15/2018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CE69FD-D86E-4F92-82BC-5919D1A18A5F}" type="slidenum">
              <a:rPr lang="en-US" smtClean="0"/>
              <a:t>‹#›</a:t>
            </a:fld>
            <a:endParaRPr lang="en-US"/>
          </a:p>
        </p:txBody>
      </p:sp>
    </p:spTree>
    <p:extLst>
      <p:ext uri="{BB962C8B-B14F-4D97-AF65-F5344CB8AC3E}">
        <p14:creationId xmlns:p14="http://schemas.microsoft.com/office/powerpoint/2010/main" val="4286390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D92041-EE5A-4370-B6BE-BCAB9916105D}" type="datetimeFigureOut">
              <a:rPr lang="en-US" smtClean="0"/>
              <a:t>8/15/2018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E69FD-D86E-4F92-82BC-5919D1A18A5F}" type="slidenum">
              <a:rPr lang="en-US" smtClean="0"/>
              <a:t>‹#›</a:t>
            </a:fld>
            <a:endParaRPr lang="en-US"/>
          </a:p>
        </p:txBody>
      </p:sp>
    </p:spTree>
    <p:extLst>
      <p:ext uri="{BB962C8B-B14F-4D97-AF65-F5344CB8AC3E}">
        <p14:creationId xmlns:p14="http://schemas.microsoft.com/office/powerpoint/2010/main" val="2656325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D92041-EE5A-4370-B6BE-BCAB9916105D}" type="datetimeFigureOut">
              <a:rPr lang="en-US" smtClean="0"/>
              <a:t>8/15/2018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CE69FD-D86E-4F92-82BC-5919D1A18A5F}" type="slidenum">
              <a:rPr lang="en-US" smtClean="0"/>
              <a:t>‹#›</a:t>
            </a:fld>
            <a:endParaRPr lang="en-US"/>
          </a:p>
        </p:txBody>
      </p:sp>
    </p:spTree>
    <p:extLst>
      <p:ext uri="{BB962C8B-B14F-4D97-AF65-F5344CB8AC3E}">
        <p14:creationId xmlns:p14="http://schemas.microsoft.com/office/powerpoint/2010/main" val="2744198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D92041-EE5A-4370-B6BE-BCAB9916105D}" type="datetimeFigureOut">
              <a:rPr lang="en-US" smtClean="0"/>
              <a:t>8/15/2018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CE69FD-D86E-4F92-82BC-5919D1A18A5F}" type="slidenum">
              <a:rPr lang="en-US" smtClean="0"/>
              <a:t>‹#›</a:t>
            </a:fld>
            <a:endParaRPr lang="en-US"/>
          </a:p>
        </p:txBody>
      </p:sp>
    </p:spTree>
    <p:extLst>
      <p:ext uri="{BB962C8B-B14F-4D97-AF65-F5344CB8AC3E}">
        <p14:creationId xmlns:p14="http://schemas.microsoft.com/office/powerpoint/2010/main" val="2299556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mashable.com/2012/06/22/data-created-every-minute/dataneversleeps/"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104643"/>
          </a:xfrm>
        </p:spPr>
        <p:txBody>
          <a:bodyPr/>
          <a:lstStyle/>
          <a:p>
            <a:r>
              <a:rPr lang="en-US" b="1" dirty="0" smtClean="0">
                <a:latin typeface="+mn-lt"/>
              </a:rPr>
              <a:t>Perfect Your</a:t>
            </a:r>
            <a:endParaRPr lang="en-US" b="1" dirty="0">
              <a:latin typeface="+mn-lt"/>
            </a:endParaRPr>
          </a:p>
        </p:txBody>
      </p:sp>
      <p:sp>
        <p:nvSpPr>
          <p:cNvPr id="3" name="Subtitle 2"/>
          <p:cNvSpPr>
            <a:spLocks noGrp="1"/>
          </p:cNvSpPr>
          <p:nvPr>
            <p:ph type="subTitle"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0226" y="2487868"/>
            <a:ext cx="5334000" cy="3829050"/>
          </a:xfrm>
          <a:prstGeom prst="rect">
            <a:avLst/>
          </a:prstGeom>
        </p:spPr>
      </p:pic>
    </p:spTree>
    <p:extLst>
      <p:ext uri="{BB962C8B-B14F-4D97-AF65-F5344CB8AC3E}">
        <p14:creationId xmlns:p14="http://schemas.microsoft.com/office/powerpoint/2010/main" val="39514397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chemeClr val="accent1"/>
                </a:solidFill>
                <a:latin typeface="+mn-lt"/>
              </a:rPr>
              <a:t>What is an </a:t>
            </a:r>
            <a:br>
              <a:rPr lang="en-US" b="1" dirty="0" smtClean="0">
                <a:solidFill>
                  <a:schemeClr val="accent1"/>
                </a:solidFill>
                <a:latin typeface="+mn-lt"/>
              </a:rPr>
            </a:br>
            <a:r>
              <a:rPr lang="en-US" b="1" dirty="0" smtClean="0">
                <a:solidFill>
                  <a:schemeClr val="accent1"/>
                </a:solidFill>
                <a:latin typeface="+mn-lt"/>
              </a:rPr>
              <a:t>ELEVATOR PITCH? </a:t>
            </a:r>
            <a:endParaRPr lang="en-US" b="1" dirty="0">
              <a:solidFill>
                <a:schemeClr val="accent1"/>
              </a:solidFill>
              <a:latin typeface="+mn-lt"/>
            </a:endParaRP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911683" y="3581785"/>
            <a:ext cx="4693099" cy="3128732"/>
          </a:xfrm>
        </p:spPr>
      </p:pic>
      <p:sp>
        <p:nvSpPr>
          <p:cNvPr id="5" name="Rectangle 4"/>
          <p:cNvSpPr/>
          <p:nvPr/>
        </p:nvSpPr>
        <p:spPr>
          <a:xfrm>
            <a:off x="1408472" y="2137847"/>
            <a:ext cx="9445940" cy="1323439"/>
          </a:xfrm>
          <a:prstGeom prst="rect">
            <a:avLst/>
          </a:prstGeom>
        </p:spPr>
        <p:txBody>
          <a:bodyPr wrap="square">
            <a:spAutoFit/>
          </a:bodyPr>
          <a:lstStyle/>
          <a:p>
            <a:pPr algn="ctr"/>
            <a:r>
              <a:rPr lang="en-US" sz="2000" b="1" dirty="0" smtClean="0">
                <a:solidFill>
                  <a:srgbClr val="FF0000"/>
                </a:solidFill>
              </a:rPr>
              <a:t>It’s the RIGHT INFORMATION delivered to</a:t>
            </a:r>
          </a:p>
          <a:p>
            <a:pPr algn="ctr"/>
            <a:r>
              <a:rPr lang="en-US" sz="2000" b="1" dirty="0" smtClean="0">
                <a:solidFill>
                  <a:srgbClr val="FF0000"/>
                </a:solidFill>
              </a:rPr>
              <a:t>An IMPORTANT AUDIENCE </a:t>
            </a:r>
          </a:p>
          <a:p>
            <a:pPr algn="ctr"/>
            <a:r>
              <a:rPr lang="en-US" sz="2000" b="1" dirty="0" smtClean="0">
                <a:solidFill>
                  <a:srgbClr val="FF0000"/>
                </a:solidFill>
              </a:rPr>
              <a:t>in the TIME it takes to ride an elevator </a:t>
            </a:r>
          </a:p>
          <a:p>
            <a:pPr algn="ctr"/>
            <a:r>
              <a:rPr lang="en-US" sz="2000" b="1" dirty="0" smtClean="0">
                <a:solidFill>
                  <a:srgbClr val="FF0000"/>
                </a:solidFill>
              </a:rPr>
              <a:t>from one floor to another.</a:t>
            </a:r>
            <a:endParaRPr lang="en-US" sz="2000" b="1" dirty="0">
              <a:solidFill>
                <a:srgbClr val="FF0000"/>
              </a:solidFill>
            </a:endParaRPr>
          </a:p>
        </p:txBody>
      </p:sp>
    </p:spTree>
    <p:extLst>
      <p:ext uri="{BB962C8B-B14F-4D97-AF65-F5344CB8AC3E}">
        <p14:creationId xmlns:p14="http://schemas.microsoft.com/office/powerpoint/2010/main" val="2978000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idx="4294967295"/>
          </p:nvPr>
        </p:nvSpPr>
        <p:spPr/>
        <p:txBody>
          <a:bodyPr>
            <a:noAutofit/>
          </a:bodyPr>
          <a:lstStyle/>
          <a:p>
            <a:pPr algn="ctr"/>
            <a:r>
              <a:rPr lang="en-US" sz="4800" b="1" u="sng" dirty="0">
                <a:solidFill>
                  <a:srgbClr val="FF0000"/>
                </a:solidFill>
              </a:rPr>
              <a:t>Why</a:t>
            </a:r>
            <a:r>
              <a:rPr lang="en-US" sz="3600" b="1" dirty="0">
                <a:solidFill>
                  <a:srgbClr val="FF0000"/>
                </a:solidFill>
              </a:rPr>
              <a:t> </a:t>
            </a:r>
            <a:r>
              <a:rPr lang="en-US" sz="3600" b="1" dirty="0" smtClean="0">
                <a:solidFill>
                  <a:srgbClr val="FF0000"/>
                </a:solidFill>
              </a:rPr>
              <a:t>Do You Need </a:t>
            </a:r>
            <a:br>
              <a:rPr lang="en-US" sz="3600" b="1" dirty="0" smtClean="0">
                <a:solidFill>
                  <a:srgbClr val="FF0000"/>
                </a:solidFill>
              </a:rPr>
            </a:br>
            <a:r>
              <a:rPr lang="en-US" sz="3600" b="1" dirty="0" smtClean="0">
                <a:solidFill>
                  <a:srgbClr val="FF0000"/>
                </a:solidFill>
              </a:rPr>
              <a:t>an Elevator Pitch?</a:t>
            </a:r>
            <a:endParaRPr lang="en-US" sz="3600" b="1" dirty="0">
              <a:solidFill>
                <a:srgbClr val="FF0000"/>
              </a:solidFill>
            </a:endParaRPr>
          </a:p>
        </p:txBody>
      </p:sp>
      <p:sp>
        <p:nvSpPr>
          <p:cNvPr id="9219" name="Rectangle 3"/>
          <p:cNvSpPr>
            <a:spLocks noGrp="1"/>
          </p:cNvSpPr>
          <p:nvPr>
            <p:ph idx="4294967295"/>
          </p:nvPr>
        </p:nvSpPr>
        <p:spPr/>
        <p:txBody>
          <a:bodyPr>
            <a:normAutofit/>
          </a:bodyPr>
          <a:lstStyle/>
          <a:p>
            <a:pPr algn="ctr">
              <a:buClrTx/>
              <a:buFont typeface="Wingdings"/>
              <a:buNone/>
            </a:pPr>
            <a:endParaRPr lang="en-US" dirty="0"/>
          </a:p>
          <a:p>
            <a:pPr>
              <a:buClrTx/>
              <a:buFont typeface="Wingdings"/>
              <a:buNone/>
            </a:pPr>
            <a:r>
              <a:rPr lang="en-US" b="1" dirty="0"/>
              <a:t>AUDIENCES ARE</a:t>
            </a:r>
          </a:p>
          <a:p>
            <a:pPr>
              <a:buClrTx/>
              <a:buFont typeface="Wingdings"/>
              <a:buNone/>
            </a:pPr>
            <a:r>
              <a:rPr lang="en-US" sz="3600" b="1" u="sng" dirty="0">
                <a:solidFill>
                  <a:srgbClr val="FF0000"/>
                </a:solidFill>
              </a:rPr>
              <a:t>OVERWHELMED</a:t>
            </a:r>
            <a:r>
              <a:rPr lang="en-US" sz="3600" b="1" u="sng" dirty="0"/>
              <a:t> </a:t>
            </a:r>
          </a:p>
          <a:p>
            <a:pPr>
              <a:buClrTx/>
              <a:buFont typeface="Wingdings"/>
              <a:buNone/>
            </a:pPr>
            <a:r>
              <a:rPr lang="en-US" sz="3600" dirty="0"/>
              <a:t>with</a:t>
            </a:r>
            <a:r>
              <a:rPr lang="en-US" sz="3600" b="1" dirty="0">
                <a:solidFill>
                  <a:srgbClr val="FF0000"/>
                </a:solidFill>
              </a:rPr>
              <a:t> </a:t>
            </a:r>
            <a:r>
              <a:rPr lang="en-US" sz="3600" b="1" u="sng" dirty="0" smtClean="0">
                <a:solidFill>
                  <a:srgbClr val="FF0000"/>
                </a:solidFill>
              </a:rPr>
              <a:t>CLUTTER and </a:t>
            </a:r>
            <a:r>
              <a:rPr lang="en-US" b="1" dirty="0" smtClean="0"/>
              <a:t>have </a:t>
            </a:r>
            <a:endParaRPr lang="en-US" b="1" dirty="0"/>
          </a:p>
          <a:p>
            <a:pPr>
              <a:buClrTx/>
              <a:buFont typeface="Wingdings"/>
              <a:buNone/>
            </a:pPr>
            <a:r>
              <a:rPr lang="en-US" sz="3600" b="1" u="sng" dirty="0">
                <a:solidFill>
                  <a:srgbClr val="FF0000"/>
                </a:solidFill>
              </a:rPr>
              <a:t>NO TIME</a:t>
            </a:r>
            <a:r>
              <a:rPr lang="en-US" sz="3600" b="1" u="sng" dirty="0" smtClean="0">
                <a:solidFill>
                  <a:srgbClr val="FF0000"/>
                </a:solidFill>
              </a:rPr>
              <a:t>, </a:t>
            </a:r>
            <a:r>
              <a:rPr lang="en-US" sz="3600" b="1" dirty="0" smtClean="0"/>
              <a:t>and</a:t>
            </a:r>
            <a:endParaRPr lang="en-US" sz="3600" b="1" dirty="0"/>
          </a:p>
          <a:p>
            <a:pPr>
              <a:buClrTx/>
              <a:buFont typeface="Wingdings"/>
              <a:buNone/>
            </a:pPr>
            <a:r>
              <a:rPr lang="en-US" sz="3600" b="1" u="sng" dirty="0">
                <a:solidFill>
                  <a:srgbClr val="FF0000"/>
                </a:solidFill>
              </a:rPr>
              <a:t>LESS </a:t>
            </a:r>
            <a:r>
              <a:rPr lang="en-US" sz="3600" b="1" u="sng" dirty="0" smtClean="0">
                <a:solidFill>
                  <a:srgbClr val="FF0000"/>
                </a:solidFill>
              </a:rPr>
              <a:t>ATTENTION.</a:t>
            </a:r>
            <a:endParaRPr lang="en-US" sz="3600" b="1" u="sng" dirty="0">
              <a:solidFill>
                <a:srgbClr val="FF0000"/>
              </a:solidFill>
            </a:endParaRPr>
          </a:p>
          <a:p>
            <a:pPr>
              <a:buClrTx/>
              <a:buFont typeface="Wingdings"/>
              <a:buNone/>
            </a:pPr>
            <a:endParaRPr lang="en-US" sz="1800" dirty="0"/>
          </a:p>
        </p:txBody>
      </p:sp>
      <p:pic>
        <p:nvPicPr>
          <p:cNvPr id="82946" name="Picture 2" descr="C:\Users\edbarr\Desktop\office_clutter[1].jpg"/>
          <p:cNvPicPr>
            <a:picLocks noChangeAspect="1" noChangeArrowheads="1"/>
          </p:cNvPicPr>
          <p:nvPr/>
        </p:nvPicPr>
        <p:blipFill>
          <a:blip r:embed="rId2" cstate="print"/>
          <a:srcRect/>
          <a:stretch>
            <a:fillRect/>
          </a:stretch>
        </p:blipFill>
        <p:spPr bwMode="auto">
          <a:xfrm>
            <a:off x="5638801" y="2286000"/>
            <a:ext cx="4816475" cy="3733800"/>
          </a:xfrm>
          <a:prstGeom prst="rect">
            <a:avLst/>
          </a:prstGeom>
          <a:noFill/>
        </p:spPr>
      </p:pic>
    </p:spTree>
    <p:extLst>
      <p:ext uri="{BB962C8B-B14F-4D97-AF65-F5344CB8AC3E}">
        <p14:creationId xmlns:p14="http://schemas.microsoft.com/office/powerpoint/2010/main" val="675653639"/>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blinds(horizontal)">
                                      <p:cBhvr>
                                        <p:cTn id="7" dur="500"/>
                                        <p:tgtEl>
                                          <p:spTgt spid="92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2" dur="500"/>
                                        <p:tgtEl>
                                          <p:spTgt spid="9219">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9219">
                                            <p:txEl>
                                              <p:pRg st="3" end="3"/>
                                            </p:txEl>
                                          </p:spTgt>
                                        </p:tgtEl>
                                        <p:attrNameLst>
                                          <p:attrName>style.visibility</p:attrName>
                                        </p:attrNameLst>
                                      </p:cBhvr>
                                      <p:to>
                                        <p:strVal val="visible"/>
                                      </p:to>
                                    </p:set>
                                    <p:animEffect transition="in" filter="blinds(horizontal)">
                                      <p:cBhvr>
                                        <p:cTn id="15" dur="500"/>
                                        <p:tgtEl>
                                          <p:spTgt spid="9219">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82946"/>
                                        </p:tgtEl>
                                        <p:attrNameLst>
                                          <p:attrName>style.visibility</p:attrName>
                                        </p:attrNameLst>
                                      </p:cBhvr>
                                      <p:to>
                                        <p:strVal val="visible"/>
                                      </p:to>
                                    </p:set>
                                    <p:animEffect transition="in" filter="blinds(horizontal)">
                                      <p:cBhvr>
                                        <p:cTn id="20" dur="500"/>
                                        <p:tgtEl>
                                          <p:spTgt spid="82946"/>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9219">
                                            <p:txEl>
                                              <p:pRg st="4" end="4"/>
                                            </p:txEl>
                                          </p:spTgt>
                                        </p:tgtEl>
                                        <p:attrNameLst>
                                          <p:attrName>style.visibility</p:attrName>
                                        </p:attrNameLst>
                                      </p:cBhvr>
                                      <p:to>
                                        <p:strVal val="visible"/>
                                      </p:to>
                                    </p:set>
                                    <p:animEffect transition="in" filter="blinds(horizontal)">
                                      <p:cBhvr>
                                        <p:cTn id="25" dur="500"/>
                                        <p:tgtEl>
                                          <p:spTgt spid="9219">
                                            <p:txEl>
                                              <p:pRg st="4" end="4"/>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9219">
                                            <p:txEl>
                                              <p:pRg st="5" end="5"/>
                                            </p:txEl>
                                          </p:spTgt>
                                        </p:tgtEl>
                                        <p:attrNameLst>
                                          <p:attrName>style.visibility</p:attrName>
                                        </p:attrNameLst>
                                      </p:cBhvr>
                                      <p:to>
                                        <p:strVal val="visible"/>
                                      </p:to>
                                    </p:set>
                                    <p:animEffect transition="in" filter="blinds(horizontal)">
                                      <p:cBhvr>
                                        <p:cTn id="28" dur="500"/>
                                        <p:tgtEl>
                                          <p:spTgt spid="92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normAutofit/>
          </a:bodyPr>
          <a:lstStyle/>
          <a:p>
            <a:pPr algn="ctr"/>
            <a:r>
              <a:rPr lang="en-US" dirty="0" smtClean="0">
                <a:solidFill>
                  <a:schemeClr val="tx2"/>
                </a:solidFill>
                <a:latin typeface="+mn-lt"/>
              </a:rPr>
              <a:t>Business people are receiving </a:t>
            </a:r>
            <a:br>
              <a:rPr lang="en-US" dirty="0" smtClean="0">
                <a:solidFill>
                  <a:schemeClr val="tx2"/>
                </a:solidFill>
                <a:latin typeface="+mn-lt"/>
              </a:rPr>
            </a:br>
            <a:r>
              <a:rPr lang="en-US" u="sng" dirty="0" smtClean="0">
                <a:solidFill>
                  <a:schemeClr val="tx2"/>
                </a:solidFill>
                <a:latin typeface="+mn-lt"/>
              </a:rPr>
              <a:t>150</a:t>
            </a:r>
            <a:r>
              <a:rPr lang="en-US" dirty="0" smtClean="0">
                <a:solidFill>
                  <a:schemeClr val="tx2"/>
                </a:solidFill>
                <a:latin typeface="+mn-lt"/>
              </a:rPr>
              <a:t> e-mails </a:t>
            </a:r>
            <a:r>
              <a:rPr lang="en-US" b="1" u="sng" dirty="0" smtClean="0">
                <a:solidFill>
                  <a:schemeClr val="tx2"/>
                </a:solidFill>
                <a:latin typeface="+mn-lt"/>
              </a:rPr>
              <a:t>EVERY DAY</a:t>
            </a:r>
            <a:r>
              <a:rPr lang="en-US" b="1" dirty="0" smtClean="0">
                <a:solidFill>
                  <a:schemeClr val="tx2"/>
                </a:solidFill>
                <a:latin typeface="+mn-lt"/>
              </a:rPr>
              <a:t>.</a:t>
            </a:r>
            <a:endParaRPr lang="en-US" b="1" dirty="0">
              <a:solidFill>
                <a:schemeClr val="tx2"/>
              </a:solidFill>
              <a:latin typeface="+mn-lt"/>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48000" y="1905000"/>
            <a:ext cx="6237238" cy="4116384"/>
          </a:xfrm>
        </p:spPr>
      </p:pic>
    </p:spTree>
    <p:extLst>
      <p:ext uri="{BB962C8B-B14F-4D97-AF65-F5344CB8AC3E}">
        <p14:creationId xmlns:p14="http://schemas.microsoft.com/office/powerpoint/2010/main" val="481469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normAutofit fontScale="90000"/>
          </a:bodyPr>
          <a:lstStyle/>
          <a:p>
            <a:pPr algn="ctr"/>
            <a:r>
              <a:rPr lang="en-US" sz="4800" dirty="0" smtClean="0"/>
              <a:t>Business people are receiving </a:t>
            </a:r>
            <a:r>
              <a:rPr lang="en-US" sz="4800" dirty="0"/>
              <a:t/>
            </a:r>
            <a:br>
              <a:rPr lang="en-US" sz="4800" dirty="0"/>
            </a:br>
            <a:r>
              <a:rPr lang="en-US" sz="4800" u="sng" dirty="0" smtClean="0"/>
              <a:t>30</a:t>
            </a:r>
            <a:r>
              <a:rPr lang="en-US" sz="4800" dirty="0" smtClean="0"/>
              <a:t> Text Message </a:t>
            </a:r>
            <a:r>
              <a:rPr lang="en-US" sz="4800" b="1" u="sng" dirty="0" smtClean="0"/>
              <a:t>EVERY DAY</a:t>
            </a:r>
            <a:r>
              <a:rPr lang="en-US" dirty="0" smtClean="0"/>
              <a:t>.</a:t>
            </a:r>
            <a:endParaRPr lang="en-US" dirty="0"/>
          </a:p>
        </p:txBody>
      </p:sp>
      <p:pic>
        <p:nvPicPr>
          <p:cNvPr id="5" name="Content Placeholder 3" descr="images[1].jpg"/>
          <p:cNvPicPr>
            <a:picLocks noGrp="1" noChangeAspect="1"/>
          </p:cNvPicPr>
          <p:nvPr>
            <p:ph idx="1"/>
          </p:nvPr>
        </p:nvPicPr>
        <p:blipFill>
          <a:blip r:embed="rId2" cstate="print"/>
          <a:srcRect/>
          <a:stretch>
            <a:fillRect/>
          </a:stretch>
        </p:blipFill>
        <p:spPr>
          <a:xfrm>
            <a:off x="4648201" y="2057400"/>
            <a:ext cx="2666999" cy="3352800"/>
          </a:xfrm>
        </p:spPr>
      </p:pic>
    </p:spTree>
    <p:extLst>
      <p:ext uri="{BB962C8B-B14F-4D97-AF65-F5344CB8AC3E}">
        <p14:creationId xmlns:p14="http://schemas.microsoft.com/office/powerpoint/2010/main" val="103303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algn="ctr">
              <a:buNone/>
            </a:pPr>
            <a:endParaRPr lang="en-US" sz="1600" b="1" dirty="0">
              <a:solidFill>
                <a:srgbClr val="FF0000"/>
              </a:solidFill>
            </a:endParaRPr>
          </a:p>
          <a:p>
            <a:pPr algn="ctr">
              <a:buNone/>
            </a:pPr>
            <a:endParaRPr lang="en-US" sz="1600" b="1" dirty="0">
              <a:solidFill>
                <a:srgbClr val="FF0000"/>
              </a:solidFill>
            </a:endParaRPr>
          </a:p>
          <a:p>
            <a:pPr algn="ctr">
              <a:buNone/>
            </a:pPr>
            <a:endParaRPr lang="en-US" sz="1600" b="1" dirty="0">
              <a:solidFill>
                <a:srgbClr val="FF0000"/>
              </a:solidFill>
            </a:endParaRPr>
          </a:p>
          <a:p>
            <a:pPr algn="ctr">
              <a:buNone/>
            </a:pPr>
            <a:r>
              <a:rPr lang="en-US" sz="2600" b="1" dirty="0" smtClean="0">
                <a:solidFill>
                  <a:srgbClr val="FF0000"/>
                </a:solidFill>
              </a:rPr>
              <a:t>“...we are </a:t>
            </a:r>
            <a:r>
              <a:rPr lang="en-US" sz="2600" b="1" dirty="0">
                <a:solidFill>
                  <a:srgbClr val="FF0000"/>
                </a:solidFill>
              </a:rPr>
              <a:t>bombarded with as many as 5000 or </a:t>
            </a:r>
            <a:r>
              <a:rPr lang="en-US" sz="2600" b="1" dirty="0" smtClean="0">
                <a:solidFill>
                  <a:srgbClr val="FF0000"/>
                </a:solidFill>
              </a:rPr>
              <a:t>more messages every day.” </a:t>
            </a:r>
            <a:r>
              <a:rPr lang="en-US" sz="2000" b="1" dirty="0">
                <a:solidFill>
                  <a:srgbClr val="FF0000"/>
                </a:solidFill>
              </a:rPr>
              <a:t>(</a:t>
            </a:r>
            <a:r>
              <a:rPr lang="en-US" sz="2000" b="1" dirty="0" err="1">
                <a:solidFill>
                  <a:srgbClr val="FF0000"/>
                </a:solidFill>
              </a:rPr>
              <a:t>Yankelovich</a:t>
            </a:r>
            <a:r>
              <a:rPr lang="en-US" sz="2000" b="1" dirty="0">
                <a:solidFill>
                  <a:srgbClr val="FF0000"/>
                </a:solidFill>
              </a:rPr>
              <a:t>)</a:t>
            </a:r>
          </a:p>
          <a:p>
            <a:pPr algn="ctr">
              <a:buNone/>
            </a:pPr>
            <a:r>
              <a:rPr lang="en-US" sz="1600" b="1" dirty="0">
                <a:solidFill>
                  <a:srgbClr val="002060"/>
                </a:solidFill>
              </a:rPr>
              <a:t> </a:t>
            </a:r>
          </a:p>
          <a:p>
            <a:pPr algn="ctr">
              <a:buNone/>
            </a:pPr>
            <a:r>
              <a:rPr lang="en-US" sz="2400" b="1" dirty="0" smtClean="0"/>
              <a:t>“84</a:t>
            </a:r>
            <a:r>
              <a:rPr lang="en-US" sz="2400" b="1" dirty="0"/>
              <a:t>% of us cannot go without our cell phones for a single day. 50% of us sleep with our cell phone </a:t>
            </a:r>
            <a:r>
              <a:rPr lang="en-US" sz="2400" b="1" dirty="0" smtClean="0"/>
              <a:t>(including </a:t>
            </a:r>
            <a:r>
              <a:rPr lang="en-US" sz="2400" b="1" dirty="0"/>
              <a:t>80% of 18-24 year olds). 20% of us check our phone every 10 minutes</a:t>
            </a:r>
            <a:r>
              <a:rPr lang="en-US" sz="2400" b="1" dirty="0" smtClean="0"/>
              <a:t>.” </a:t>
            </a:r>
            <a:endParaRPr lang="en-US" sz="2400" b="1" dirty="0"/>
          </a:p>
          <a:p>
            <a:pPr algn="ctr">
              <a:buNone/>
            </a:pPr>
            <a:r>
              <a:rPr lang="en-US" sz="2000" b="1" dirty="0"/>
              <a:t>(Time Magazine)</a:t>
            </a:r>
          </a:p>
          <a:p>
            <a:endParaRPr lang="en-US" sz="1600" dirty="0"/>
          </a:p>
        </p:txBody>
      </p:sp>
      <p:pic>
        <p:nvPicPr>
          <p:cNvPr id="14338" name="Picture 2" descr="C:\Users\Agent585\Desktop\thCA7HPF0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7250" y="76200"/>
            <a:ext cx="2857500" cy="219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398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blinds(horizontal)">
                                      <p:cBhvr>
                                        <p:cTn id="12" dur="500"/>
                                        <p:tgtEl>
                                          <p:spTgt spid="3">
                                            <p:txEl>
                                              <p:pRg st="5" end="5"/>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blinds(horizontal)">
                                      <p:cBhvr>
                                        <p:cTn id="1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74638"/>
            <a:ext cx="8305800" cy="106362"/>
          </a:xfrm>
        </p:spPr>
        <p:txBody>
          <a:bodyPr>
            <a:normAutofit fontScale="90000"/>
          </a:bodyPr>
          <a:lstStyle/>
          <a:p>
            <a:pPr algn="ctr"/>
            <a:r>
              <a:rPr lang="en-US" b="1" dirty="0"/>
              <a:t/>
            </a:r>
            <a:br>
              <a:rPr lang="en-US" b="1" dirty="0"/>
            </a:br>
            <a:r>
              <a:rPr lang="en-US" b="1" dirty="0" smtClean="0"/>
              <a:t>Data NEVER sleeps</a:t>
            </a:r>
            <a:r>
              <a:rPr lang="en-US" dirty="0" smtClean="0"/>
              <a:t>.</a:t>
            </a:r>
            <a:endParaRPr lang="en-US" dirty="0"/>
          </a:p>
        </p:txBody>
      </p:sp>
      <p:pic>
        <p:nvPicPr>
          <p:cNvPr id="4" name="Content Placeholder 3" descr="http://7.mshcdn.com/wp-content/uploads/2012/06/DataNeverSleeps.jpg">
            <a:hlinkClick r:id="rId3"/>
          </p:cNvPr>
          <p:cNvPicPr>
            <a:picLocks noGrp="1"/>
          </p:cNvPicPr>
          <p:nvPr>
            <p:ph idx="1"/>
          </p:nvPr>
        </p:nvPicPr>
        <p:blipFill>
          <a:blip r:embed="rId4" cstate="print"/>
          <a:srcRect/>
          <a:stretch>
            <a:fillRect/>
          </a:stretch>
        </p:blipFill>
        <p:spPr bwMode="auto">
          <a:xfrm>
            <a:off x="3009900" y="1295400"/>
            <a:ext cx="6096000" cy="5410200"/>
          </a:xfrm>
          <a:prstGeom prst="rect">
            <a:avLst/>
          </a:prstGeom>
          <a:noFill/>
          <a:ln w="9525">
            <a:noFill/>
            <a:miter lim="800000"/>
            <a:headEnd/>
            <a:tailEnd/>
          </a:ln>
        </p:spPr>
      </p:pic>
    </p:spTree>
    <p:extLst>
      <p:ext uri="{BB962C8B-B14F-4D97-AF65-F5344CB8AC3E}">
        <p14:creationId xmlns:p14="http://schemas.microsoft.com/office/powerpoint/2010/main" val="768800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idx="4294967295"/>
          </p:nvPr>
        </p:nvSpPr>
        <p:spPr>
          <a:xfrm>
            <a:off x="2133600" y="365126"/>
            <a:ext cx="7467600" cy="1235075"/>
          </a:xfrm>
        </p:spPr>
        <p:txBody>
          <a:bodyPr>
            <a:normAutofit fontScale="90000"/>
          </a:bodyPr>
          <a:lstStyle/>
          <a:p>
            <a:pPr algn="ctr"/>
            <a:r>
              <a:rPr lang="en-US" b="1" dirty="0">
                <a:ea typeface="ＭＳ Ｐゴシック"/>
              </a:rPr>
              <a:t> </a:t>
            </a:r>
            <a:r>
              <a:rPr lang="en-US" dirty="0">
                <a:ea typeface="ＭＳ Ｐゴシック"/>
              </a:rPr>
              <a:t/>
            </a:r>
            <a:br>
              <a:rPr lang="en-US" dirty="0">
                <a:ea typeface="ＭＳ Ｐゴシック"/>
              </a:rPr>
            </a:br>
            <a:r>
              <a:rPr lang="en-US" b="1" dirty="0">
                <a:ea typeface="ＭＳ Ｐゴシック"/>
              </a:rPr>
              <a:t>“We are drowning in information and starving for knowledge.” </a:t>
            </a:r>
            <a:br>
              <a:rPr lang="en-US" b="1" dirty="0">
                <a:ea typeface="ＭＳ Ｐゴシック"/>
              </a:rPr>
            </a:br>
            <a:r>
              <a:rPr lang="en-US" sz="2000" i="1" dirty="0">
                <a:solidFill>
                  <a:srgbClr val="7030A0"/>
                </a:solidFill>
                <a:ea typeface="ＭＳ Ｐゴシック"/>
              </a:rPr>
              <a:t>Rutherford Rogers, Yale Librarian</a:t>
            </a:r>
            <a:r>
              <a:rPr lang="en-US" dirty="0">
                <a:ea typeface="ＭＳ Ｐゴシック"/>
              </a:rPr>
              <a:t/>
            </a:r>
            <a:br>
              <a:rPr lang="en-US" dirty="0">
                <a:ea typeface="ＭＳ Ｐゴシック"/>
              </a:rPr>
            </a:br>
            <a:endParaRPr lang="en-US" dirty="0">
              <a:ea typeface="ＭＳ Ｐゴシック"/>
            </a:endParaRPr>
          </a:p>
        </p:txBody>
      </p:sp>
      <p:pic>
        <p:nvPicPr>
          <p:cNvPr id="16387" name="Picture 3" descr="https://encrypted-tbn3.gstatic.com/images?q=tbn:ANd9GcTeweTnu5DpkCHfbvsDwPXWV94q5aAFgZApgcReFNUVdanB0sE_1w"/>
          <p:cNvPicPr>
            <a:picLocks noGrp="1" noChangeAspect="1" noChangeArrowheads="1"/>
          </p:cNvPicPr>
          <p:nvPr>
            <p:ph idx="4294967295"/>
          </p:nvPr>
        </p:nvPicPr>
        <p:blipFill>
          <a:blip r:embed="rId2" cstate="print"/>
          <a:srcRect/>
          <a:stretch>
            <a:fillRect/>
          </a:stretch>
        </p:blipFill>
        <p:spPr>
          <a:xfrm>
            <a:off x="3695700" y="2020529"/>
            <a:ext cx="4343400" cy="3505200"/>
          </a:xfrm>
          <a:noFill/>
          <a:ln/>
        </p:spPr>
      </p:pic>
    </p:spTree>
    <p:extLst>
      <p:ext uri="{BB962C8B-B14F-4D97-AF65-F5344CB8AC3E}">
        <p14:creationId xmlns:p14="http://schemas.microsoft.com/office/powerpoint/2010/main" val="225856496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533400"/>
            <a:ext cx="8382000" cy="1066800"/>
          </a:xfrm>
        </p:spPr>
        <p:txBody>
          <a:bodyPr>
            <a:normAutofit fontScale="90000"/>
          </a:bodyPr>
          <a:lstStyle/>
          <a:p>
            <a:pPr algn="ctr"/>
            <a:r>
              <a:rPr lang="en-US" sz="2700" dirty="0"/>
              <a:t> </a:t>
            </a:r>
            <a:br>
              <a:rPr lang="en-US" sz="2700" dirty="0"/>
            </a:br>
            <a:r>
              <a:rPr lang="en-US" sz="2700" dirty="0"/>
              <a:t/>
            </a:r>
            <a:br>
              <a:rPr lang="en-US" sz="2700" dirty="0"/>
            </a:br>
            <a:r>
              <a:rPr lang="en-US" sz="2700" dirty="0"/>
              <a:t/>
            </a:r>
            <a:br>
              <a:rPr lang="en-US" sz="2700" dirty="0"/>
            </a:br>
            <a:r>
              <a:rPr lang="en-US" sz="2700" dirty="0"/>
              <a:t/>
            </a:r>
            <a:br>
              <a:rPr lang="en-US" sz="2700" dirty="0"/>
            </a:br>
            <a:r>
              <a:rPr lang="en-US" sz="2700" b="1" dirty="0"/>
              <a:t/>
            </a:r>
            <a:br>
              <a:rPr lang="en-US" sz="2700" b="1" dirty="0"/>
            </a:br>
            <a:r>
              <a:rPr lang="en-US" sz="3600" b="1" dirty="0"/>
              <a:t>“What information consumes is rather obvious: </a:t>
            </a:r>
            <a:br>
              <a:rPr lang="en-US" sz="3600" b="1" dirty="0"/>
            </a:br>
            <a:r>
              <a:rPr lang="en-US" sz="3600" b="1" u="sng" dirty="0"/>
              <a:t>it consumes the attention of its recipients</a:t>
            </a:r>
            <a:r>
              <a:rPr lang="en-US" sz="3600" b="1" dirty="0"/>
              <a:t>. </a:t>
            </a:r>
            <a:r>
              <a:rPr lang="en-US" sz="3600" dirty="0"/>
              <a:t/>
            </a:r>
            <a:br>
              <a:rPr lang="en-US" sz="3600" dirty="0"/>
            </a:br>
            <a:endParaRPr lang="en-US" sz="1800" dirty="0"/>
          </a:p>
        </p:txBody>
      </p:sp>
      <p:pic>
        <p:nvPicPr>
          <p:cNvPr id="4" name="Content Placeholder 3" descr="HerbertSimon[1].png"/>
          <p:cNvPicPr>
            <a:picLocks noGrp="1" noChangeAspect="1"/>
          </p:cNvPicPr>
          <p:nvPr>
            <p:ph idx="1"/>
          </p:nvPr>
        </p:nvPicPr>
        <p:blipFill>
          <a:blip r:embed="rId2" cstate="print"/>
          <a:stretch>
            <a:fillRect/>
          </a:stretch>
        </p:blipFill>
        <p:spPr>
          <a:xfrm>
            <a:off x="4191000" y="3182517"/>
            <a:ext cx="3657600" cy="2438400"/>
          </a:xfrm>
        </p:spPr>
      </p:pic>
      <p:sp>
        <p:nvSpPr>
          <p:cNvPr id="5" name="Rectangle 4"/>
          <p:cNvSpPr/>
          <p:nvPr/>
        </p:nvSpPr>
        <p:spPr>
          <a:xfrm>
            <a:off x="1828800" y="2590801"/>
            <a:ext cx="8699500" cy="461665"/>
          </a:xfrm>
          <a:prstGeom prst="rect">
            <a:avLst/>
          </a:prstGeom>
        </p:spPr>
        <p:txBody>
          <a:bodyPr wrap="square">
            <a:spAutoFit/>
          </a:bodyPr>
          <a:lstStyle/>
          <a:p>
            <a:pPr algn="ctr"/>
            <a:r>
              <a:rPr lang="en-US" sz="2400" b="1" dirty="0">
                <a:solidFill>
                  <a:srgbClr val="FF0000"/>
                </a:solidFill>
                <a:ea typeface="+mj-ea"/>
                <a:cs typeface="+mj-cs"/>
              </a:rPr>
              <a:t>Hence, a wealth of information creates a poverty of attention</a:t>
            </a:r>
            <a:r>
              <a:rPr lang="en-US" sz="2400" dirty="0">
                <a:solidFill>
                  <a:prstClr val="black"/>
                </a:solidFill>
                <a:ea typeface="+mj-ea"/>
                <a:cs typeface="+mj-cs"/>
              </a:rPr>
              <a:t>.” </a:t>
            </a:r>
            <a:endParaRPr lang="en-US" sz="1200" dirty="0"/>
          </a:p>
        </p:txBody>
      </p:sp>
      <p:sp>
        <p:nvSpPr>
          <p:cNvPr id="6" name="Rectangle 5"/>
          <p:cNvSpPr/>
          <p:nvPr/>
        </p:nvSpPr>
        <p:spPr>
          <a:xfrm>
            <a:off x="3733800" y="5750968"/>
            <a:ext cx="4572000" cy="430887"/>
          </a:xfrm>
          <a:prstGeom prst="rect">
            <a:avLst/>
          </a:prstGeom>
        </p:spPr>
        <p:txBody>
          <a:bodyPr wrap="square">
            <a:spAutoFit/>
          </a:bodyPr>
          <a:lstStyle/>
          <a:p>
            <a:r>
              <a:rPr lang="en-US" sz="2200" dirty="0">
                <a:solidFill>
                  <a:prstClr val="black"/>
                </a:solidFill>
                <a:ea typeface="+mj-ea"/>
                <a:cs typeface="+mj-cs"/>
              </a:rPr>
              <a:t>Herb Simon, CMU, Nobel Laureate</a:t>
            </a:r>
            <a:endParaRPr lang="en-US" dirty="0"/>
          </a:p>
        </p:txBody>
      </p:sp>
    </p:spTree>
    <p:extLst>
      <p:ext uri="{BB962C8B-B14F-4D97-AF65-F5344CB8AC3E}">
        <p14:creationId xmlns:p14="http://schemas.microsoft.com/office/powerpoint/2010/main" val="2615351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blinds(horizontal)">
                                      <p:cBhvr>
                                        <p:cTn id="1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We </a:t>
            </a:r>
            <a:r>
              <a:rPr lang="en-US" dirty="0" smtClean="0"/>
              <a:t>ALL suffer from </a:t>
            </a:r>
            <a:r>
              <a:rPr lang="en-US" b="1" dirty="0" smtClean="0">
                <a:solidFill>
                  <a:srgbClr val="0070C0"/>
                </a:solidFill>
              </a:rPr>
              <a:t>“Infobesity</a:t>
            </a:r>
            <a:r>
              <a:rPr lang="en-US" b="1" dirty="0">
                <a:solidFill>
                  <a:srgbClr val="0070C0"/>
                </a:solidFill>
              </a:rPr>
              <a:t>.”</a:t>
            </a:r>
          </a:p>
        </p:txBody>
      </p:sp>
      <p:pic>
        <p:nvPicPr>
          <p:cNvPr id="3074" name="Picture 2" descr="C:\Users\edbarr\Desktop\th[10].jpg"/>
          <p:cNvPicPr>
            <a:picLocks noGrp="1" noChangeAspect="1" noChangeArrowheads="1"/>
          </p:cNvPicPr>
          <p:nvPr>
            <p:ph idx="1"/>
          </p:nvPr>
        </p:nvPicPr>
        <p:blipFill>
          <a:blip r:embed="rId2" cstate="print"/>
          <a:srcRect/>
          <a:stretch>
            <a:fillRect/>
          </a:stretch>
        </p:blipFill>
        <p:spPr bwMode="auto">
          <a:xfrm>
            <a:off x="2971800" y="1828800"/>
            <a:ext cx="6096000" cy="4191000"/>
          </a:xfrm>
          <a:prstGeom prst="rect">
            <a:avLst/>
          </a:prstGeom>
          <a:noFill/>
        </p:spPr>
      </p:pic>
    </p:spTree>
    <p:extLst>
      <p:ext uri="{BB962C8B-B14F-4D97-AF65-F5344CB8AC3E}">
        <p14:creationId xmlns:p14="http://schemas.microsoft.com/office/powerpoint/2010/main" val="453104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linds(horizontal)">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800" b="1" dirty="0" smtClean="0"/>
              <a:t>As a result, we must seat information quickly and efficiently </a:t>
            </a:r>
            <a:br>
              <a:rPr lang="en-US" sz="2800" b="1" dirty="0" smtClean="0"/>
            </a:br>
            <a:r>
              <a:rPr lang="en-US" sz="2800" b="1" dirty="0" smtClean="0"/>
              <a:t>in the minds of our audiences in an </a:t>
            </a:r>
            <a:r>
              <a:rPr lang="en-US" sz="2800" b="1" dirty="0"/>
              <a:t/>
            </a:r>
            <a:br>
              <a:rPr lang="en-US" sz="2800" b="1" dirty="0"/>
            </a:br>
            <a:r>
              <a:rPr lang="en-US" sz="3200" b="1" dirty="0" smtClean="0">
                <a:solidFill>
                  <a:srgbClr val="7030A0"/>
                </a:solidFill>
                <a:latin typeface="+mn-lt"/>
              </a:rPr>
              <a:t>ELEVATOR PITCH. </a:t>
            </a:r>
            <a:endParaRPr lang="en-US" sz="2400" b="1" dirty="0">
              <a:solidFill>
                <a:srgbClr val="7030A0"/>
              </a:solidFill>
              <a:latin typeface="+mn-lt"/>
            </a:endParaRPr>
          </a:p>
        </p:txBody>
      </p:sp>
      <p:pic>
        <p:nvPicPr>
          <p:cNvPr id="6146" name="Picture 2" descr="C:\Users\Agent585\Desktop\thCAHW3PMY.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14700" y="2866103"/>
            <a:ext cx="5562600" cy="3429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746090" y="1924665"/>
            <a:ext cx="4505634" cy="523220"/>
          </a:xfrm>
          <a:prstGeom prst="rect">
            <a:avLst/>
          </a:prstGeom>
        </p:spPr>
        <p:txBody>
          <a:bodyPr wrap="square">
            <a:spAutoFit/>
          </a:bodyPr>
          <a:lstStyle/>
          <a:p>
            <a:pPr algn="ctr"/>
            <a:r>
              <a:rPr lang="en-US" sz="2800" b="1" dirty="0" smtClean="0">
                <a:solidFill>
                  <a:srgbClr val="7030A0"/>
                </a:solidFill>
              </a:rPr>
              <a:t>Here’s a formula</a:t>
            </a:r>
            <a:endParaRPr lang="en-US" sz="2000" b="1" dirty="0">
              <a:solidFill>
                <a:srgbClr val="7030A0"/>
              </a:solidFill>
              <a:latin typeface="+mn-lt"/>
            </a:endParaRPr>
          </a:p>
        </p:txBody>
      </p:sp>
    </p:spTree>
    <p:extLst>
      <p:ext uri="{BB962C8B-B14F-4D97-AF65-F5344CB8AC3E}">
        <p14:creationId xmlns:p14="http://schemas.microsoft.com/office/powerpoint/2010/main" val="482303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46"/>
                                        </p:tgtEl>
                                        <p:attrNameLst>
                                          <p:attrName>style.visibility</p:attrName>
                                        </p:attrNameLst>
                                      </p:cBhvr>
                                      <p:to>
                                        <p:strVal val="visible"/>
                                      </p:to>
                                    </p:set>
                                    <p:animEffect transition="in" filter="fade">
                                      <p:cBhvr>
                                        <p:cTn id="12"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pPr marL="0" indent="0" algn="ctr">
              <a:buNone/>
            </a:pPr>
            <a:endParaRPr lang="en-US" dirty="0" smtClean="0"/>
          </a:p>
          <a:p>
            <a:pPr marL="0" indent="0" algn="ctr">
              <a:buNone/>
            </a:pPr>
            <a:endParaRPr lang="en-US" dirty="0"/>
          </a:p>
          <a:p>
            <a:pPr marL="0" indent="0" algn="ctr">
              <a:buNone/>
            </a:pPr>
            <a:r>
              <a:rPr lang="en-US" b="1" dirty="0" smtClean="0">
                <a:solidFill>
                  <a:srgbClr val="FF0000"/>
                </a:solidFill>
              </a:rPr>
              <a:t>The ED BARR Elevator Pitch</a:t>
            </a:r>
          </a:p>
          <a:p>
            <a:pPr marL="0" indent="0" algn="ctr">
              <a:buNone/>
            </a:pPr>
            <a:r>
              <a:rPr lang="en-US" sz="3200" dirty="0" smtClean="0"/>
              <a:t>For university programs whose students don’t communicate well, Ed Barr is a Communication Coach who creates measureable improvements in writing and speaking unlike most teachers because he has taught communication skills all over the world (China, India, Kazakhstan, Great Britain, Europe and Latin America) and has had a successful career in marketing</a:t>
            </a:r>
            <a:r>
              <a:rPr lang="en-US" sz="3200" dirty="0" smtClean="0"/>
              <a:t>. Can I contact you to talk about your needs?</a:t>
            </a:r>
            <a:endParaRPr lang="en-US" sz="3200" dirty="0"/>
          </a:p>
        </p:txBody>
      </p:sp>
      <p:pic>
        <p:nvPicPr>
          <p:cNvPr id="4" name="Picture 1" descr="C:\Users\edbarr\Desktop\Ed Stuff\Ed Barr ActionPhoto.JPG"/>
          <p:cNvPicPr>
            <a:picLocks noChangeAspect="1" noChangeArrowheads="1"/>
          </p:cNvPicPr>
          <p:nvPr/>
        </p:nvPicPr>
        <p:blipFill>
          <a:blip r:embed="rId2" cstate="print"/>
          <a:srcRect/>
          <a:stretch>
            <a:fillRect/>
          </a:stretch>
        </p:blipFill>
        <p:spPr bwMode="auto">
          <a:xfrm>
            <a:off x="4267200" y="272845"/>
            <a:ext cx="3657600" cy="2408443"/>
          </a:xfrm>
          <a:prstGeom prst="rect">
            <a:avLst/>
          </a:prstGeom>
          <a:noFill/>
        </p:spPr>
      </p:pic>
    </p:spTree>
    <p:extLst>
      <p:ext uri="{BB962C8B-B14F-4D97-AF65-F5344CB8AC3E}">
        <p14:creationId xmlns:p14="http://schemas.microsoft.com/office/powerpoint/2010/main" val="181591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0" indent="0">
              <a:buNone/>
            </a:pPr>
            <a:endParaRPr lang="en-US" dirty="0" smtClean="0"/>
          </a:p>
          <a:p>
            <a:pPr marL="0" indent="0">
              <a:buNone/>
            </a:pPr>
            <a:endParaRPr lang="en-US" dirty="0"/>
          </a:p>
          <a:p>
            <a:pPr marL="0" indent="0">
              <a:buNone/>
            </a:pPr>
            <a:endParaRPr lang="en-US" dirty="0" smtClean="0"/>
          </a:p>
          <a:p>
            <a:pPr marL="0" indent="0" algn="ctr">
              <a:buNone/>
            </a:pPr>
            <a:r>
              <a:rPr lang="en-US" sz="3600" b="1" dirty="0" smtClean="0">
                <a:solidFill>
                  <a:srgbClr val="FF0000"/>
                </a:solidFill>
              </a:rPr>
              <a:t>OR, </a:t>
            </a:r>
          </a:p>
          <a:p>
            <a:pPr marL="0" indent="0" algn="ctr">
              <a:buNone/>
            </a:pPr>
            <a:r>
              <a:rPr lang="en-US" dirty="0" smtClean="0"/>
              <a:t>Hi</a:t>
            </a:r>
            <a:r>
              <a:rPr lang="en-US" dirty="0" smtClean="0"/>
              <a:t>, I’m Ed Barr.  I teach people how to write and speak more effectively using seven techniques I have mastered over a lifetime of teaching around the world </a:t>
            </a:r>
            <a:r>
              <a:rPr lang="en-US" dirty="0" smtClean="0"/>
              <a:t>at CMU and </a:t>
            </a:r>
            <a:r>
              <a:rPr lang="en-US" dirty="0" smtClean="0"/>
              <a:t>through my business experiences as a marketing executive. I can bring you measureable improvements quickly</a:t>
            </a:r>
            <a:r>
              <a:rPr lang="en-US" dirty="0" smtClean="0"/>
              <a:t>. Can I have your business card and connect on LinkedIn? </a:t>
            </a:r>
            <a:endParaRPr lang="en-US" dirty="0"/>
          </a:p>
        </p:txBody>
      </p:sp>
      <p:pic>
        <p:nvPicPr>
          <p:cNvPr id="4" name="Picture 1" descr="C:\Users\edbarr\Desktop\Ed Stuff\Ed Barr ActionPhoto.JPG"/>
          <p:cNvPicPr>
            <a:picLocks noChangeAspect="1" noChangeArrowheads="1"/>
          </p:cNvPicPr>
          <p:nvPr/>
        </p:nvPicPr>
        <p:blipFill>
          <a:blip r:embed="rId2" cstate="print"/>
          <a:srcRect/>
          <a:stretch>
            <a:fillRect/>
          </a:stretch>
        </p:blipFill>
        <p:spPr bwMode="auto">
          <a:xfrm>
            <a:off x="4267200" y="272845"/>
            <a:ext cx="3657600" cy="2780071"/>
          </a:xfrm>
          <a:prstGeom prst="rect">
            <a:avLst/>
          </a:prstGeom>
          <a:noFill/>
        </p:spPr>
      </p:pic>
    </p:spTree>
    <p:extLst>
      <p:ext uri="{BB962C8B-B14F-4D97-AF65-F5344CB8AC3E}">
        <p14:creationId xmlns:p14="http://schemas.microsoft.com/office/powerpoint/2010/main" val="3225606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0070C0"/>
                </a:solidFill>
              </a:rPr>
              <a:t>Remember to state a </a:t>
            </a:r>
            <a:r>
              <a:rPr lang="en-US" b="1" u="sng" dirty="0" smtClean="0">
                <a:solidFill>
                  <a:srgbClr val="0070C0"/>
                </a:solidFill>
              </a:rPr>
              <a:t>benefit</a:t>
            </a:r>
            <a:r>
              <a:rPr lang="en-US" b="1" dirty="0" smtClean="0">
                <a:solidFill>
                  <a:srgbClr val="0070C0"/>
                </a:solidFill>
              </a:rPr>
              <a:t> and </a:t>
            </a:r>
            <a:br>
              <a:rPr lang="en-US" b="1" dirty="0" smtClean="0">
                <a:solidFill>
                  <a:srgbClr val="0070C0"/>
                </a:solidFill>
              </a:rPr>
            </a:br>
            <a:r>
              <a:rPr lang="en-US" b="1" u="sng" dirty="0" smtClean="0">
                <a:solidFill>
                  <a:srgbClr val="0070C0"/>
                </a:solidFill>
              </a:rPr>
              <a:t>differentiate</a:t>
            </a:r>
            <a:r>
              <a:rPr lang="en-US" b="1" dirty="0" smtClean="0">
                <a:solidFill>
                  <a:srgbClr val="0070C0"/>
                </a:solidFill>
              </a:rPr>
              <a:t> yourself! </a:t>
            </a:r>
            <a:endParaRPr lang="en-US" b="1" dirty="0">
              <a:solidFill>
                <a:srgbClr val="0070C0"/>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73339" y="2079523"/>
            <a:ext cx="5506063" cy="4122173"/>
          </a:xfrm>
        </p:spPr>
      </p:pic>
    </p:spTree>
    <p:extLst>
      <p:ext uri="{BB962C8B-B14F-4D97-AF65-F5344CB8AC3E}">
        <p14:creationId xmlns:p14="http://schemas.microsoft.com/office/powerpoint/2010/main" val="1159914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5300" b="1" dirty="0" smtClean="0">
                <a:solidFill>
                  <a:srgbClr val="FF0000"/>
                </a:solidFill>
                <a:latin typeface="+mn-lt"/>
              </a:rPr>
              <a:t/>
            </a:r>
            <a:br>
              <a:rPr lang="en-US" sz="5300" b="1" dirty="0" smtClean="0">
                <a:solidFill>
                  <a:srgbClr val="FF0000"/>
                </a:solidFill>
                <a:latin typeface="+mn-lt"/>
              </a:rPr>
            </a:br>
            <a:r>
              <a:rPr lang="en-US" sz="5300" b="1" dirty="0" smtClean="0">
                <a:solidFill>
                  <a:srgbClr val="FF0000"/>
                </a:solidFill>
                <a:latin typeface="+mn-lt"/>
              </a:rPr>
              <a:t>Now </a:t>
            </a:r>
            <a:r>
              <a:rPr lang="en-US" sz="8000" b="1" u="sng" dirty="0" smtClean="0">
                <a:solidFill>
                  <a:srgbClr val="FF0000"/>
                </a:solidFill>
                <a:latin typeface="+mn-lt"/>
              </a:rPr>
              <a:t>YOU</a:t>
            </a:r>
            <a:r>
              <a:rPr lang="en-US" sz="5300" b="1" dirty="0" smtClean="0">
                <a:solidFill>
                  <a:srgbClr val="FF0000"/>
                </a:solidFill>
                <a:latin typeface="+mn-lt"/>
              </a:rPr>
              <a:t> try!</a:t>
            </a:r>
            <a:br>
              <a:rPr lang="en-US" sz="5300" b="1" dirty="0" smtClean="0">
                <a:solidFill>
                  <a:srgbClr val="FF0000"/>
                </a:solidFill>
                <a:latin typeface="+mn-lt"/>
              </a:rPr>
            </a:br>
            <a:r>
              <a:rPr lang="en-US" b="1" dirty="0" smtClean="0">
                <a:latin typeface="+mn-lt"/>
              </a:rPr>
              <a:t>Write your</a:t>
            </a:r>
            <a:endParaRPr lang="en-US" b="1" dirty="0">
              <a:latin typeface="+mn-l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3500" y="2796381"/>
            <a:ext cx="9525000" cy="2409825"/>
          </a:xfrm>
        </p:spPr>
      </p:pic>
    </p:spTree>
    <p:extLst>
      <p:ext uri="{BB962C8B-B14F-4D97-AF65-F5344CB8AC3E}">
        <p14:creationId xmlns:p14="http://schemas.microsoft.com/office/powerpoint/2010/main" val="3139907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10145</TotalTime>
  <Words>259</Words>
  <Application>Microsoft Office PowerPoint</Application>
  <PresentationFormat>Widescreen</PresentationFormat>
  <Paragraphs>42</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ＭＳ Ｐゴシック</vt:lpstr>
      <vt:lpstr>Arial</vt:lpstr>
      <vt:lpstr>Calibri</vt:lpstr>
      <vt:lpstr>Calibri Light</vt:lpstr>
      <vt:lpstr>Wingdings</vt:lpstr>
      <vt:lpstr>Office Theme</vt:lpstr>
      <vt:lpstr>Perfect Your</vt:lpstr>
      <vt:lpstr>What is an  ELEVATOR PITCH? </vt:lpstr>
      <vt:lpstr>Why Do You Need  an Elevator Pitch?</vt:lpstr>
      <vt:lpstr>Business people are receiving  150 e-mails EVERY DAY.</vt:lpstr>
      <vt:lpstr>Business people are receiving  30 Text Message EVERY DAY.</vt:lpstr>
      <vt:lpstr>PowerPoint Presentation</vt:lpstr>
      <vt:lpstr> Data NEVER sleeps.</vt:lpstr>
      <vt:lpstr>  “We are drowning in information and starving for knowledge.”  Rutherford Rogers, Yale Librarian </vt:lpstr>
      <vt:lpstr>      “What information consumes is rather obvious:  it consumes the attention of its recipients.  </vt:lpstr>
      <vt:lpstr>We ALL suffer from “Infobesity.”</vt:lpstr>
      <vt:lpstr>As a result, we must seat information quickly and efficiently  in the minds of our audiences in an  ELEVATOR PITCH. </vt:lpstr>
      <vt:lpstr>PowerPoint Presentation</vt:lpstr>
      <vt:lpstr>PowerPoint Presentation</vt:lpstr>
      <vt:lpstr>Remember to state a benefit and  differentiate yourself! </vt:lpstr>
      <vt:lpstr> Now YOU try! Write your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edbarr</dc:creator>
  <cp:lastModifiedBy>edbarr</cp:lastModifiedBy>
  <cp:revision>28</cp:revision>
  <dcterms:created xsi:type="dcterms:W3CDTF">2017-05-30T14:39:32Z</dcterms:created>
  <dcterms:modified xsi:type="dcterms:W3CDTF">2018-08-15T11:53:10Z</dcterms:modified>
</cp:coreProperties>
</file>