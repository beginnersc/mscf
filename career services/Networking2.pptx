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1" r:id="rId3"/>
    <p:sldId id="306" r:id="rId4"/>
    <p:sldId id="307" r:id="rId5"/>
    <p:sldId id="257" r:id="rId6"/>
    <p:sldId id="259" r:id="rId7"/>
    <p:sldId id="260" r:id="rId8"/>
    <p:sldId id="261" r:id="rId9"/>
    <p:sldId id="297" r:id="rId10"/>
    <p:sldId id="298" r:id="rId11"/>
    <p:sldId id="262" r:id="rId12"/>
    <p:sldId id="264" r:id="rId13"/>
    <p:sldId id="265" r:id="rId14"/>
    <p:sldId id="293" r:id="rId15"/>
    <p:sldId id="300" r:id="rId16"/>
    <p:sldId id="294" r:id="rId17"/>
    <p:sldId id="270" r:id="rId18"/>
    <p:sldId id="284" r:id="rId19"/>
    <p:sldId id="299" r:id="rId20"/>
    <p:sldId id="271" r:id="rId21"/>
    <p:sldId id="295" r:id="rId22"/>
    <p:sldId id="272" r:id="rId23"/>
    <p:sldId id="273" r:id="rId24"/>
    <p:sldId id="296" r:id="rId25"/>
    <p:sldId id="275" r:id="rId26"/>
    <p:sldId id="309" r:id="rId27"/>
    <p:sldId id="274" r:id="rId28"/>
    <p:sldId id="277" r:id="rId29"/>
    <p:sldId id="303" r:id="rId30"/>
    <p:sldId id="304" r:id="rId31"/>
    <p:sldId id="279" r:id="rId32"/>
    <p:sldId id="280" r:id="rId33"/>
    <p:sldId id="282" r:id="rId34"/>
    <p:sldId id="302" r:id="rId35"/>
    <p:sldId id="287" r:id="rId36"/>
    <p:sldId id="288" r:id="rId37"/>
    <p:sldId id="289" r:id="rId38"/>
    <p:sldId id="290" r:id="rId39"/>
    <p:sldId id="291" r:id="rId40"/>
    <p:sldId id="292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CE124-BF8E-4D44-A6CF-ED6E4019B895}" type="datetimeFigureOut">
              <a:rPr lang="en-US" smtClean="0"/>
              <a:t>8/14/2018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22085-6C90-4FD2-8D65-42E3BD5F3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861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CE124-BF8E-4D44-A6CF-ED6E4019B895}" type="datetimeFigureOut">
              <a:rPr lang="en-US" smtClean="0"/>
              <a:t>8/14/2018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22085-6C90-4FD2-8D65-42E3BD5F3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031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CE124-BF8E-4D44-A6CF-ED6E4019B895}" type="datetimeFigureOut">
              <a:rPr lang="en-US" smtClean="0"/>
              <a:t>8/14/2018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22085-6C90-4FD2-8D65-42E3BD5F3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817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CE124-BF8E-4D44-A6CF-ED6E4019B895}" type="datetimeFigureOut">
              <a:rPr lang="en-US" smtClean="0"/>
              <a:t>8/14/2018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22085-6C90-4FD2-8D65-42E3BD5F3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812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CE124-BF8E-4D44-A6CF-ED6E4019B895}" type="datetimeFigureOut">
              <a:rPr lang="en-US" smtClean="0"/>
              <a:t>8/14/2018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22085-6C90-4FD2-8D65-42E3BD5F3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991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CE124-BF8E-4D44-A6CF-ED6E4019B895}" type="datetimeFigureOut">
              <a:rPr lang="en-US" smtClean="0"/>
              <a:t>8/14/2018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22085-6C90-4FD2-8D65-42E3BD5F3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068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CE124-BF8E-4D44-A6CF-ED6E4019B895}" type="datetimeFigureOut">
              <a:rPr lang="en-US" smtClean="0"/>
              <a:t>8/14/2018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22085-6C90-4FD2-8D65-42E3BD5F3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979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CE124-BF8E-4D44-A6CF-ED6E4019B895}" type="datetimeFigureOut">
              <a:rPr lang="en-US" smtClean="0"/>
              <a:t>8/14/2018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22085-6C90-4FD2-8D65-42E3BD5F3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744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CE124-BF8E-4D44-A6CF-ED6E4019B895}" type="datetimeFigureOut">
              <a:rPr lang="en-US" smtClean="0"/>
              <a:t>8/14/2018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22085-6C90-4FD2-8D65-42E3BD5F3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718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CE124-BF8E-4D44-A6CF-ED6E4019B895}" type="datetimeFigureOut">
              <a:rPr lang="en-US" smtClean="0"/>
              <a:t>8/14/2018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22085-6C90-4FD2-8D65-42E3BD5F3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079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CE124-BF8E-4D44-A6CF-ED6E4019B895}" type="datetimeFigureOut">
              <a:rPr lang="en-US" smtClean="0"/>
              <a:t>8/14/2018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22085-6C90-4FD2-8D65-42E3BD5F3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468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3CE124-BF8E-4D44-A6CF-ED6E4019B895}" type="datetimeFigureOut">
              <a:rPr lang="en-US" smtClean="0"/>
              <a:t>8/14/2018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B22085-6C90-4FD2-8D65-42E3BD5F3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439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d.com/talks/amy_cuddy_your_body_language_shapes_who_you_are" TargetMode="External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jp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jpg"/><Relationship Id="rId4" Type="http://schemas.openxmlformats.org/officeDocument/2006/relationships/image" Target="../media/image37.jp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781292"/>
            <a:ext cx="9144000" cy="1429474"/>
          </a:xfrm>
        </p:spPr>
        <p:txBody>
          <a:bodyPr>
            <a:normAutofit fontScale="90000"/>
          </a:bodyPr>
          <a:lstStyle/>
          <a:p>
            <a:r>
              <a:rPr lang="en-US" sz="7300" b="1" dirty="0" smtClean="0">
                <a:solidFill>
                  <a:srgbClr val="FF0000"/>
                </a:solidFill>
                <a:latin typeface="+mn-lt"/>
              </a:rPr>
              <a:t>NETWORK</a:t>
            </a:r>
            <a:r>
              <a:rPr lang="en-US" sz="8000" b="1" dirty="0" smtClean="0">
                <a:solidFill>
                  <a:srgbClr val="FF0000"/>
                </a:solidFill>
              </a:rPr>
              <a:t>!</a:t>
            </a:r>
            <a:br>
              <a:rPr lang="en-US" sz="8000" b="1" dirty="0" smtClean="0">
                <a:solidFill>
                  <a:srgbClr val="FF0000"/>
                </a:solidFill>
              </a:rPr>
            </a:br>
            <a:r>
              <a:rPr lang="en-US" sz="4400" b="1" dirty="0" smtClean="0">
                <a:solidFill>
                  <a:schemeClr val="accent1"/>
                </a:solidFill>
              </a:rPr>
              <a:t>Because, sometimes it’s not </a:t>
            </a:r>
            <a:br>
              <a:rPr lang="en-US" sz="4400" b="1" dirty="0" smtClean="0">
                <a:solidFill>
                  <a:schemeClr val="accent1"/>
                </a:solidFill>
              </a:rPr>
            </a:br>
            <a:r>
              <a:rPr lang="en-US" sz="4400" b="1" u="sng" dirty="0" smtClean="0">
                <a:solidFill>
                  <a:schemeClr val="accent1"/>
                </a:solidFill>
              </a:rPr>
              <a:t>what</a:t>
            </a:r>
            <a:r>
              <a:rPr lang="en-US" sz="4400" b="1" dirty="0" smtClean="0">
                <a:solidFill>
                  <a:schemeClr val="accent1"/>
                </a:solidFill>
              </a:rPr>
              <a:t> you know, it’s </a:t>
            </a:r>
            <a:endParaRPr lang="en-US" sz="3100" b="1" dirty="0">
              <a:solidFill>
                <a:schemeClr val="accent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8186" y="2361235"/>
            <a:ext cx="8949813" cy="332426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9718" y="2361235"/>
            <a:ext cx="6699623" cy="35327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254910" y="5835972"/>
            <a:ext cx="40336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u="sng" dirty="0" smtClean="0">
                <a:solidFill>
                  <a:schemeClr val="accent1"/>
                </a:solidFill>
              </a:rPr>
              <a:t>WHO</a:t>
            </a:r>
            <a:r>
              <a:rPr lang="en-US" sz="3600" b="1" dirty="0" smtClean="0">
                <a:solidFill>
                  <a:schemeClr val="accent1"/>
                </a:solidFill>
              </a:rPr>
              <a:t> YOU KNOW!</a:t>
            </a:r>
            <a:endParaRPr lang="en-US" sz="36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9581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When </a:t>
            </a:r>
            <a:r>
              <a:rPr lang="en-US" b="1" dirty="0"/>
              <a:t>you network well: </a:t>
            </a:r>
            <a:r>
              <a:rPr lang="en-US" dirty="0"/>
              <a:t/>
            </a:r>
            <a:br>
              <a:rPr lang="en-US" dirty="0"/>
            </a:br>
            <a:endParaRPr lang="en-US" b="1" dirty="0">
              <a:solidFill>
                <a:srgbClr val="FFC000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dirty="0" smtClean="0"/>
              <a:t>Recruiters will notice you.</a:t>
            </a:r>
            <a:endParaRPr lang="en-US" dirty="0"/>
          </a:p>
          <a:p>
            <a:pPr algn="ctr"/>
            <a:r>
              <a:rPr lang="en-US" dirty="0" smtClean="0"/>
              <a:t>You will have a more successful career.</a:t>
            </a:r>
            <a:endParaRPr lang="en-US" dirty="0"/>
          </a:p>
          <a:p>
            <a:pPr algn="ctr"/>
            <a:r>
              <a:rPr lang="en-US" dirty="0"/>
              <a:t>You </a:t>
            </a:r>
            <a:r>
              <a:rPr lang="en-US" dirty="0" smtClean="0"/>
              <a:t>will feel better about yourself. 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5762" y="4111420"/>
            <a:ext cx="3800475" cy="23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057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00B050"/>
                </a:solidFill>
                <a:latin typeface="+mn-lt"/>
              </a:rPr>
              <a:t>You will network with…</a:t>
            </a:r>
            <a:endParaRPr lang="en-US" sz="4000" b="1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People you </a:t>
            </a:r>
            <a:r>
              <a:rPr lang="en-US" u="sng" dirty="0" smtClean="0"/>
              <a:t>ALREADY KNOW</a:t>
            </a:r>
            <a:r>
              <a:rPr lang="en-US" dirty="0" smtClean="0"/>
              <a:t>.</a:t>
            </a:r>
          </a:p>
          <a:p>
            <a:r>
              <a:rPr lang="en-US" dirty="0" smtClean="0"/>
              <a:t>People you </a:t>
            </a:r>
            <a:r>
              <a:rPr lang="en-US" u="sng" dirty="0" smtClean="0"/>
              <a:t>WANT TO KNOW</a:t>
            </a:r>
            <a:r>
              <a:rPr lang="en-US" dirty="0" smtClean="0"/>
              <a:t>.</a:t>
            </a:r>
          </a:p>
          <a:p>
            <a:r>
              <a:rPr lang="en-US" dirty="0" smtClean="0"/>
              <a:t>People you </a:t>
            </a:r>
            <a:r>
              <a:rPr lang="en-US" u="sng" dirty="0" smtClean="0"/>
              <a:t>NEED TO KNOW</a:t>
            </a:r>
            <a:r>
              <a:rPr lang="en-US" dirty="0" smtClean="0"/>
              <a:t>.</a:t>
            </a:r>
          </a:p>
          <a:p>
            <a:r>
              <a:rPr lang="en-US" dirty="0" smtClean="0"/>
              <a:t>And, maybe, people who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u="sng" dirty="0" smtClean="0"/>
              <a:t>WANT TO KNOW YOU</a:t>
            </a:r>
            <a:r>
              <a:rPr lang="en-US" dirty="0" smtClean="0"/>
              <a:t>!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7160" y="1960530"/>
            <a:ext cx="5734851" cy="323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725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It’s all Social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Face-to-Face</a:t>
            </a:r>
          </a:p>
          <a:p>
            <a:pPr marL="0" indent="0">
              <a:buNone/>
            </a:pPr>
            <a:r>
              <a:rPr lang="en-US" dirty="0" smtClean="0"/>
              <a:t>	Receptions</a:t>
            </a:r>
          </a:p>
          <a:p>
            <a:pPr marL="0" indent="0">
              <a:buNone/>
            </a:pPr>
            <a:r>
              <a:rPr lang="en-US" dirty="0" smtClean="0"/>
              <a:t>	Parties</a:t>
            </a:r>
          </a:p>
          <a:p>
            <a:pPr marL="0" indent="0">
              <a:buNone/>
            </a:pPr>
            <a:r>
              <a:rPr lang="en-US" dirty="0" smtClean="0"/>
              <a:t>	Coffee breaks</a:t>
            </a:r>
          </a:p>
          <a:p>
            <a:endParaRPr lang="en-US" dirty="0" smtClean="0"/>
          </a:p>
          <a:p>
            <a:r>
              <a:rPr lang="en-US" dirty="0" smtClean="0"/>
              <a:t>Social Media</a:t>
            </a:r>
          </a:p>
          <a:p>
            <a:pPr marL="0" indent="0">
              <a:buNone/>
            </a:pPr>
            <a:r>
              <a:rPr lang="en-US" dirty="0" smtClean="0"/>
              <a:t>	LinkedIn</a:t>
            </a:r>
          </a:p>
          <a:p>
            <a:pPr marL="0" indent="0">
              <a:buNone/>
            </a:pPr>
            <a:r>
              <a:rPr lang="en-US" dirty="0" smtClean="0"/>
              <a:t>	Facebook</a:t>
            </a:r>
          </a:p>
          <a:p>
            <a:pPr marL="0" indent="0">
              <a:buNone/>
            </a:pPr>
            <a:r>
              <a:rPr lang="en-US" dirty="0" smtClean="0"/>
              <a:t>	WeChat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6775" y="4694830"/>
            <a:ext cx="2765937" cy="17844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2697" y="1690688"/>
            <a:ext cx="5734092" cy="270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771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6700" b="1" dirty="0">
                <a:solidFill>
                  <a:srgbClr val="002060"/>
                </a:solidFill>
              </a:rPr>
              <a:t>WHY </a:t>
            </a:r>
            <a:r>
              <a:rPr lang="en-US" b="1" dirty="0">
                <a:solidFill>
                  <a:srgbClr val="002060"/>
                </a:solidFill>
              </a:rPr>
              <a:t>do you hesitate to </a:t>
            </a:r>
            <a:r>
              <a:rPr lang="en-US" b="1" dirty="0" smtClean="0">
                <a:solidFill>
                  <a:srgbClr val="002060"/>
                </a:solidFill>
              </a:rPr>
              <a:t>network?</a:t>
            </a:r>
            <a:r>
              <a:rPr lang="en-US" b="1" dirty="0">
                <a:solidFill>
                  <a:srgbClr val="002060"/>
                </a:solidFill>
              </a:rPr>
              <a:t/>
            </a:r>
            <a:br>
              <a:rPr lang="en-US" b="1" dirty="0">
                <a:solidFill>
                  <a:srgbClr val="002060"/>
                </a:solidFill>
              </a:rPr>
            </a:br>
            <a:endParaRPr lang="en-US" b="1" dirty="0">
              <a:solidFill>
                <a:srgbClr val="00206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7732" y="1450824"/>
            <a:ext cx="4667250" cy="3781425"/>
          </a:xfrm>
        </p:spPr>
      </p:pic>
      <p:sp>
        <p:nvSpPr>
          <p:cNvPr id="5" name="Rectangle 4"/>
          <p:cNvSpPr/>
          <p:nvPr/>
        </p:nvSpPr>
        <p:spPr>
          <a:xfrm>
            <a:off x="1180619" y="5521124"/>
            <a:ext cx="1035934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Because your mothers told you, “Don’t Talk to Strangers!”</a:t>
            </a:r>
          </a:p>
        </p:txBody>
      </p:sp>
    </p:spTree>
    <p:extLst>
      <p:ext uri="{BB962C8B-B14F-4D97-AF65-F5344CB8AC3E}">
        <p14:creationId xmlns:p14="http://schemas.microsoft.com/office/powerpoint/2010/main" val="1765460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/>
            </a:r>
            <a:br>
              <a:rPr lang="en-US" b="1" dirty="0">
                <a:solidFill>
                  <a:srgbClr val="0070C0"/>
                </a:solidFill>
              </a:rPr>
            </a:br>
            <a:r>
              <a:rPr lang="en-US" b="1" dirty="0">
                <a:solidFill>
                  <a:srgbClr val="0070C0"/>
                </a:solidFill>
              </a:rPr>
              <a:t>According to the </a:t>
            </a:r>
            <a:r>
              <a:rPr lang="en-US" b="1" u="sng" dirty="0">
                <a:solidFill>
                  <a:srgbClr val="0070C0"/>
                </a:solidFill>
              </a:rPr>
              <a:t>NY Times,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“The #1 </a:t>
            </a:r>
            <a:r>
              <a:rPr lang="en-US" b="1" dirty="0"/>
              <a:t>SOCIAL FEAR </a:t>
            </a:r>
            <a:r>
              <a:rPr lang="en-US" dirty="0"/>
              <a:t>is going to… 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8192" y="2283162"/>
            <a:ext cx="7382769" cy="2871077"/>
          </a:xfrm>
        </p:spPr>
      </p:pic>
      <p:sp>
        <p:nvSpPr>
          <p:cNvPr id="5" name="Rectangle 4"/>
          <p:cNvSpPr/>
          <p:nvPr/>
        </p:nvSpPr>
        <p:spPr>
          <a:xfrm>
            <a:off x="3912243" y="5480614"/>
            <a:ext cx="564265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…a party with strangers.”</a:t>
            </a:r>
          </a:p>
        </p:txBody>
      </p:sp>
    </p:spTree>
    <p:extLst>
      <p:ext uri="{BB962C8B-B14F-4D97-AF65-F5344CB8AC3E}">
        <p14:creationId xmlns:p14="http://schemas.microsoft.com/office/powerpoint/2010/main" val="1640296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It’s </a:t>
            </a:r>
            <a:r>
              <a:rPr lang="en-US" b="1" u="sng" dirty="0">
                <a:solidFill>
                  <a:schemeClr val="accent2">
                    <a:lumMod val="75000"/>
                  </a:schemeClr>
                </a:solidFill>
              </a:rPr>
              <a:t>NATURAL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 to feel alone,</a:t>
            </a:r>
            <a:r>
              <a:rPr lang="en-US" dirty="0"/>
              <a:t/>
            </a:r>
            <a:br>
              <a:rPr lang="en-US" dirty="0"/>
            </a:br>
            <a:r>
              <a:rPr lang="en-US" b="1" dirty="0">
                <a:solidFill>
                  <a:schemeClr val="tx2"/>
                </a:solidFill>
              </a:rPr>
              <a:t>because we spend so much time alone.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965" y="3120582"/>
            <a:ext cx="1708131" cy="2274139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3922" y="3508190"/>
            <a:ext cx="3980411" cy="180694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1107" y="3508190"/>
            <a:ext cx="1645122" cy="164512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2219" y="3514164"/>
            <a:ext cx="2232005" cy="148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764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Are you an </a:t>
            </a:r>
            <a:br>
              <a:rPr lang="en-US" b="1" dirty="0"/>
            </a:br>
            <a:r>
              <a:rPr lang="en-US" b="1" dirty="0"/>
              <a:t>INTROVERT?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635" y="2320602"/>
            <a:ext cx="3554730" cy="2065020"/>
          </a:xfrm>
        </p:spPr>
      </p:pic>
      <p:sp>
        <p:nvSpPr>
          <p:cNvPr id="5" name="Rectangle 4"/>
          <p:cNvSpPr/>
          <p:nvPr/>
        </p:nvSpPr>
        <p:spPr>
          <a:xfrm>
            <a:off x="526648" y="5015537"/>
            <a:ext cx="1153417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Don’t worry. In the 1980’s, 80% of adults identified themselves as shy; </a:t>
            </a:r>
          </a:p>
          <a:p>
            <a:pPr algn="ctr"/>
            <a:r>
              <a:rPr lang="en-US" sz="3200" b="1" dirty="0">
                <a:solidFill>
                  <a:srgbClr val="FF0000"/>
                </a:solidFill>
              </a:rPr>
              <a:t>in 2000, 93% did.</a:t>
            </a:r>
          </a:p>
        </p:txBody>
      </p:sp>
    </p:spTree>
    <p:extLst>
      <p:ext uri="{BB962C8B-B14F-4D97-AF65-F5344CB8AC3E}">
        <p14:creationId xmlns:p14="http://schemas.microsoft.com/office/powerpoint/2010/main" val="2799496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MINGLING IS </a:t>
            </a:r>
            <a:r>
              <a:rPr lang="en-US" b="1" dirty="0">
                <a:solidFill>
                  <a:srgbClr val="FF0000"/>
                </a:solidFill>
              </a:rPr>
              <a:t/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sz="6700" b="1" dirty="0">
                <a:solidFill>
                  <a:srgbClr val="FF0000"/>
                </a:solidFill>
              </a:rPr>
              <a:t>a MIND GAME.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0621" y="2384611"/>
            <a:ext cx="4236437" cy="3484811"/>
          </a:xfrm>
        </p:spPr>
      </p:pic>
    </p:spTree>
    <p:extLst>
      <p:ext uri="{BB962C8B-B14F-4D97-AF65-F5344CB8AC3E}">
        <p14:creationId xmlns:p14="http://schemas.microsoft.com/office/powerpoint/2010/main" val="266387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70C0"/>
                </a:solidFill>
              </a:rPr>
              <a:t>In a non-conscious process,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 the brain responds in the following ways: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96633"/>
            <a:ext cx="10515600" cy="418033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THE LIZARD BRAIN decides: do I fight, flee or feed (survival mode).</a:t>
            </a:r>
          </a:p>
          <a:p>
            <a:pPr lvl="1"/>
            <a:r>
              <a:rPr lang="en-US" dirty="0"/>
              <a:t>You can overcome this by being open, non-threatening</a:t>
            </a:r>
          </a:p>
          <a:p>
            <a:pPr lvl="1"/>
            <a:endParaRPr lang="en-US" dirty="0"/>
          </a:p>
          <a:p>
            <a:r>
              <a:rPr lang="en-US" dirty="0"/>
              <a:t>Next, the </a:t>
            </a:r>
            <a:r>
              <a:rPr lang="en-US" dirty="0">
                <a:solidFill>
                  <a:srgbClr val="7030A0"/>
                </a:solidFill>
              </a:rPr>
              <a:t>SOCIAL BRAIN makes value judgements. </a:t>
            </a:r>
          </a:p>
          <a:p>
            <a:pPr lvl="1"/>
            <a:r>
              <a:rPr lang="en-US" dirty="0"/>
              <a:t>So, be professional, confident, poised, to be worthy of their time</a:t>
            </a:r>
          </a:p>
          <a:p>
            <a:pPr lvl="1"/>
            <a:endParaRPr lang="en-US" dirty="0"/>
          </a:p>
          <a:p>
            <a:r>
              <a:rPr lang="en-US" dirty="0"/>
              <a:t>Lastly, </a:t>
            </a:r>
            <a:r>
              <a:rPr lang="en-US" dirty="0">
                <a:solidFill>
                  <a:srgbClr val="0070C0"/>
                </a:solidFill>
              </a:rPr>
              <a:t>NEO CORTEX (thinking) is engaged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Give high value and novel ideas, high contrast and binary information</a:t>
            </a: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4862" y="2578654"/>
            <a:ext cx="1395533" cy="1134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724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latin typeface="Arial Black" panose="020B0A04020102020204" pitchFamily="34" charset="0"/>
              </a:rPr>
              <a:t>YOU CAN MASTER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4103" y="2384385"/>
            <a:ext cx="4981985" cy="3478191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8723" y="4221199"/>
            <a:ext cx="2115312" cy="1307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958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First, </a:t>
            </a:r>
            <a:r>
              <a:rPr lang="en-US" dirty="0"/>
              <a:t/>
            </a:r>
            <a:br>
              <a:rPr lang="en-US" dirty="0"/>
            </a:br>
            <a:r>
              <a:rPr lang="en-US" b="1" u="sng" dirty="0">
                <a:solidFill>
                  <a:srgbClr val="C00000"/>
                </a:solidFill>
              </a:rPr>
              <a:t>ELIMINATE</a:t>
            </a:r>
            <a:r>
              <a:rPr lang="en-US" b="1" dirty="0">
                <a:solidFill>
                  <a:srgbClr val="C00000"/>
                </a:solidFill>
              </a:rPr>
              <a:t> NEGATIVE SELF-TALK.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17" y="2474260"/>
            <a:ext cx="3855889" cy="3271184"/>
          </a:xfrm>
        </p:spPr>
      </p:pic>
    </p:spTree>
    <p:extLst>
      <p:ext uri="{BB962C8B-B14F-4D97-AF65-F5344CB8AC3E}">
        <p14:creationId xmlns:p14="http://schemas.microsoft.com/office/powerpoint/2010/main" val="3576546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>
                <a:solidFill>
                  <a:srgbClr val="C00000"/>
                </a:solidFill>
                <a:latin typeface="Arial Black" panose="020B0A04020102020204" pitchFamily="34" charset="0"/>
              </a:rPr>
              <a:t>Next, have</a:t>
            </a:r>
            <a:endParaRPr lang="en-US" sz="6600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866" y="1574157"/>
            <a:ext cx="10560934" cy="460280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b="1" dirty="0"/>
              <a:t>Increase connections/contacts </a:t>
            </a:r>
          </a:p>
          <a:p>
            <a:pPr marL="0" indent="0" algn="ctr">
              <a:buNone/>
            </a:pPr>
            <a:r>
              <a:rPr lang="en-US" b="1" dirty="0"/>
              <a:t>Get a job </a:t>
            </a:r>
          </a:p>
          <a:p>
            <a:pPr marL="0" indent="0" algn="ctr">
              <a:buNone/>
            </a:pPr>
            <a:r>
              <a:rPr lang="en-US" b="1" dirty="0"/>
              <a:t>Gain insights/learn </a:t>
            </a:r>
          </a:p>
          <a:p>
            <a:pPr marL="0" indent="0" algn="ctr">
              <a:buNone/>
            </a:pPr>
            <a:r>
              <a:rPr lang="en-US" b="1" dirty="0"/>
              <a:t>Be visible </a:t>
            </a:r>
          </a:p>
          <a:p>
            <a:pPr marL="0" indent="0" algn="ctr">
              <a:buNone/>
            </a:pPr>
            <a:r>
              <a:rPr lang="en-US" b="1" dirty="0"/>
              <a:t>Have fun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3533" y="1555347"/>
            <a:ext cx="2893671" cy="2170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16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Think about your IMAGE: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You are giving off messages </a:t>
            </a:r>
            <a:r>
              <a:rPr lang="en-US" b="1" u="sng" dirty="0"/>
              <a:t>LONG BEFORE </a:t>
            </a:r>
            <a:r>
              <a:rPr lang="en-US" dirty="0"/>
              <a:t>you speak.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8274" y="2420320"/>
            <a:ext cx="3994085" cy="3994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116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Adopt a </a:t>
            </a:r>
            <a:br>
              <a:rPr lang="en-US" b="1" dirty="0">
                <a:solidFill>
                  <a:schemeClr val="accent1"/>
                </a:solidFill>
              </a:rPr>
            </a:br>
            <a:r>
              <a:rPr lang="en-US" sz="6000" b="1" u="sng" dirty="0">
                <a:solidFill>
                  <a:schemeClr val="accent1"/>
                </a:solidFill>
              </a:rPr>
              <a:t>POSITIVE ATTITUDE</a:t>
            </a:r>
            <a:r>
              <a:rPr lang="en-US" b="1" dirty="0">
                <a:solidFill>
                  <a:schemeClr val="accent1"/>
                </a:solidFill>
              </a:rPr>
              <a:t>.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8197" y="2330824"/>
            <a:ext cx="5612683" cy="3526117"/>
          </a:xfrm>
        </p:spPr>
      </p:pic>
      <p:sp>
        <p:nvSpPr>
          <p:cNvPr id="3" name="Rectangle 2"/>
          <p:cNvSpPr/>
          <p:nvPr/>
        </p:nvSpPr>
        <p:spPr>
          <a:xfrm>
            <a:off x="2644815" y="6128822"/>
            <a:ext cx="731248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Don’t use negatives, don’t gossip, don’t use profanity.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30368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Know </a:t>
            </a:r>
            <a:r>
              <a:rPr lang="en-US" b="1" u="sng" dirty="0"/>
              <a:t>your</a:t>
            </a:r>
            <a:r>
              <a:rPr lang="en-US" b="1" dirty="0"/>
              <a:t> body language!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8476" y="1522071"/>
            <a:ext cx="6735843" cy="4975833"/>
          </a:xfrm>
        </p:spPr>
      </p:pic>
    </p:spTree>
    <p:extLst>
      <p:ext uri="{BB962C8B-B14F-4D97-AF65-F5344CB8AC3E}">
        <p14:creationId xmlns:p14="http://schemas.microsoft.com/office/powerpoint/2010/main" val="2086741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Take a POWER STANCE.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3911" y="1981013"/>
            <a:ext cx="3761040" cy="4351338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4899" y="755959"/>
            <a:ext cx="3388696" cy="5576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439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Do </a:t>
            </a:r>
            <a:r>
              <a:rPr lang="en-US" b="1" u="sng" dirty="0"/>
              <a:t>Power Poses </a:t>
            </a:r>
            <a:r>
              <a:rPr lang="en-US" b="1" dirty="0"/>
              <a:t>work?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6625" y="2038274"/>
            <a:ext cx="7561425" cy="4611382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6642" y="1423687"/>
            <a:ext cx="2247979" cy="555584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1319514" y="2100805"/>
            <a:ext cx="8368496" cy="206608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Curved Left 5"/>
          <p:cNvSpPr/>
          <p:nvPr/>
        </p:nvSpPr>
        <p:spPr>
          <a:xfrm>
            <a:off x="9734309" y="4022203"/>
            <a:ext cx="893566" cy="1579944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3417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WATCH THIS </a:t>
            </a:r>
            <a:r>
              <a:rPr lang="en-US" sz="2800" b="1" dirty="0" err="1">
                <a:solidFill>
                  <a:srgbClr val="FF0000"/>
                </a:solidFill>
              </a:rPr>
              <a:t>TEDTalk</a:t>
            </a:r>
            <a:r>
              <a:rPr lang="en-US" sz="2800" b="1" dirty="0">
                <a:solidFill>
                  <a:srgbClr val="FF0000"/>
                </a:solidFill>
              </a:rPr>
              <a:t>!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881" y="1414159"/>
            <a:ext cx="9342120" cy="4236720"/>
          </a:xfrm>
        </p:spPr>
      </p:pic>
      <p:sp>
        <p:nvSpPr>
          <p:cNvPr id="5" name="Rectangle 4"/>
          <p:cNvSpPr/>
          <p:nvPr/>
        </p:nvSpPr>
        <p:spPr>
          <a:xfrm>
            <a:off x="1799862" y="5862576"/>
            <a:ext cx="91755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https://</a:t>
            </a:r>
            <a:r>
              <a:rPr lang="en-US" dirty="0">
                <a:solidFill>
                  <a:srgbClr val="FF0000"/>
                </a:solidFill>
                <a:hlinkClick r:id="rId3"/>
              </a:rPr>
              <a:t>www.ted.com/talks/amy_cuddy_your_body_language_shapes_who_you_are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2561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 dirty="0"/>
              <a:t>Channel </a:t>
            </a:r>
            <a:r>
              <a:rPr lang="en-US" sz="5400" b="1" dirty="0" smtClean="0"/>
              <a:t>a professional! </a:t>
            </a:r>
            <a:endParaRPr lang="en-US" sz="5400" b="1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0" y="2096294"/>
            <a:ext cx="5715000" cy="3810000"/>
          </a:xfrm>
        </p:spPr>
      </p:pic>
    </p:spTree>
    <p:extLst>
      <p:ext uri="{BB962C8B-B14F-4D97-AF65-F5344CB8AC3E}">
        <p14:creationId xmlns:p14="http://schemas.microsoft.com/office/powerpoint/2010/main" val="3650649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DRESS FOR THE OCCASION.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8068" y="3942378"/>
            <a:ext cx="3752010" cy="2501340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8068" y="1630923"/>
            <a:ext cx="6292476" cy="202710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8430" y="3900669"/>
            <a:ext cx="2268638" cy="254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354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solidFill>
                  <a:srgbClr val="C00000"/>
                </a:solidFill>
              </a:rPr>
              <a:t>SMILE!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457" y="1438856"/>
            <a:ext cx="4762500" cy="3200400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7442" y="2640119"/>
            <a:ext cx="3269009" cy="307286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5859" y="3446362"/>
            <a:ext cx="3143250" cy="313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519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/>
              <a:t>Give a firm handshake.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837" y="1825625"/>
            <a:ext cx="8376325" cy="4351338"/>
          </a:xfrm>
        </p:spPr>
      </p:pic>
    </p:spTree>
    <p:extLst>
      <p:ext uri="{BB962C8B-B14F-4D97-AF65-F5344CB8AC3E}">
        <p14:creationId xmlns:p14="http://schemas.microsoft.com/office/powerpoint/2010/main" val="3247453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>
                <a:solidFill>
                  <a:srgbClr val="FF0000"/>
                </a:solidFill>
              </a:rPr>
              <a:t>MirrorrorriM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your audience.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616" y="2084621"/>
            <a:ext cx="2286000" cy="1514475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0937" y="2084621"/>
            <a:ext cx="2802966" cy="153416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8159" y="2084621"/>
            <a:ext cx="2413000" cy="153416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0823" y="3888888"/>
            <a:ext cx="1943195" cy="286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071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HAVE A </a:t>
            </a:r>
            <a:r>
              <a:rPr lang="en-US" b="1" u="sng" dirty="0"/>
              <a:t>SELF INTRODUCTION </a:t>
            </a:r>
            <a:r>
              <a:rPr lang="en-US" b="1" dirty="0"/>
              <a:t>READY.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But, don’t talk about your title; talk about your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439" y="2565240"/>
            <a:ext cx="6551122" cy="3746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964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Set the stage </a:t>
            </a:r>
            <a:br>
              <a:rPr lang="en-US" b="1" dirty="0" smtClean="0"/>
            </a:br>
            <a:r>
              <a:rPr lang="en-US" b="1" dirty="0" smtClean="0"/>
              <a:t>and find some things in common.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Ask about the person’s job and employer (know something about both).</a:t>
            </a:r>
          </a:p>
          <a:p>
            <a:r>
              <a:rPr lang="en-US" b="1" dirty="0" smtClean="0">
                <a:solidFill>
                  <a:srgbClr val="92D050"/>
                </a:solidFill>
              </a:rPr>
              <a:t>Show your commonalities.</a:t>
            </a:r>
          </a:p>
          <a:p>
            <a:r>
              <a:rPr lang="en-US" dirty="0" smtClean="0">
                <a:solidFill>
                  <a:schemeClr val="accent1"/>
                </a:solidFill>
              </a:rPr>
              <a:t>Ask a question related to your commonalities.</a:t>
            </a:r>
          </a:p>
          <a:p>
            <a:r>
              <a:rPr lang="en-US" dirty="0" smtClean="0"/>
              <a:t>Share a goal.</a:t>
            </a:r>
          </a:p>
          <a:p>
            <a:r>
              <a:rPr lang="en-US" dirty="0" smtClean="0"/>
              <a:t>Tell a story.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1982" y="3753465"/>
            <a:ext cx="3628036" cy="2235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284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Use these techniques: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QUESTION</a:t>
            </a:r>
            <a:r>
              <a:rPr lang="en-US" dirty="0"/>
              <a:t>: </a:t>
            </a:r>
            <a:r>
              <a:rPr lang="en-US" dirty="0" smtClean="0"/>
              <a:t>“What </a:t>
            </a:r>
            <a:r>
              <a:rPr lang="en-US" dirty="0"/>
              <a:t>is the one best piece of advice you’d give to someone just starting in this field?”</a:t>
            </a:r>
          </a:p>
          <a:p>
            <a:r>
              <a:rPr lang="en-US" b="1" dirty="0">
                <a:solidFill>
                  <a:srgbClr val="0070C0"/>
                </a:solidFill>
              </a:rPr>
              <a:t>HONESTY:</a:t>
            </a:r>
            <a:r>
              <a:rPr lang="en-US" b="1" dirty="0"/>
              <a:t> </a:t>
            </a:r>
            <a:r>
              <a:rPr lang="en-US" dirty="0"/>
              <a:t>“I don’t know anybody here.”</a:t>
            </a:r>
          </a:p>
          <a:p>
            <a:r>
              <a:rPr lang="en-US" b="1" dirty="0">
                <a:solidFill>
                  <a:srgbClr val="7030A0"/>
                </a:solidFill>
              </a:rPr>
              <a:t>FLATTERY</a:t>
            </a:r>
            <a:r>
              <a:rPr lang="en-US" dirty="0"/>
              <a:t>: “I was told that if I met anyone, I should meet you….”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PRAISE: </a:t>
            </a:r>
            <a:r>
              <a:rPr lang="en-US" dirty="0"/>
              <a:t>“ I really like your (tie, earrings, necklace, glasses, scarf)….”</a:t>
            </a:r>
          </a:p>
          <a:p>
            <a:r>
              <a:rPr lang="en-US" b="1" dirty="0"/>
              <a:t>NEWS ITEM: </a:t>
            </a:r>
            <a:r>
              <a:rPr lang="en-US" dirty="0"/>
              <a:t>“Did you hear about the shakeup over at DB?”</a:t>
            </a:r>
          </a:p>
          <a:p>
            <a:r>
              <a:rPr lang="en-US" b="1" dirty="0">
                <a:solidFill>
                  <a:srgbClr val="FF0000"/>
                </a:solidFill>
              </a:rPr>
              <a:t>STORY: </a:t>
            </a:r>
            <a:r>
              <a:rPr lang="en-US" dirty="0"/>
              <a:t>“I was driving to Connecticut last winter during a snow storm</a:t>
            </a:r>
            <a:r>
              <a:rPr lang="en-US" dirty="0" smtClean="0"/>
              <a:t>….”</a:t>
            </a:r>
            <a:endParaRPr lang="en-US" dirty="0"/>
          </a:p>
          <a:p>
            <a:r>
              <a:rPr lang="en-US" b="1" dirty="0">
                <a:solidFill>
                  <a:srgbClr val="0070C0"/>
                </a:solidFill>
              </a:rPr>
              <a:t>HELP: “</a:t>
            </a:r>
            <a:r>
              <a:rPr lang="en-US" dirty="0"/>
              <a:t>Can you introduce me to one person you think I should meet?”</a:t>
            </a:r>
          </a:p>
        </p:txBody>
      </p:sp>
    </p:spTree>
    <p:extLst>
      <p:ext uri="{BB962C8B-B14F-4D97-AF65-F5344CB8AC3E}">
        <p14:creationId xmlns:p14="http://schemas.microsoft.com/office/powerpoint/2010/main" val="1046430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chemeClr val="accent1"/>
                </a:solidFill>
              </a:rPr>
              <a:t/>
            </a:r>
            <a:br>
              <a:rPr lang="en-US" b="1" dirty="0" smtClean="0">
                <a:solidFill>
                  <a:schemeClr val="accent1"/>
                </a:solidFill>
              </a:rPr>
            </a:br>
            <a:r>
              <a:rPr lang="en-US" b="1" dirty="0" smtClean="0">
                <a:solidFill>
                  <a:schemeClr val="accent1"/>
                </a:solidFill>
              </a:rPr>
              <a:t>Create </a:t>
            </a:r>
            <a:r>
              <a:rPr lang="en-US" b="1" dirty="0">
                <a:solidFill>
                  <a:schemeClr val="accent1"/>
                </a:solidFill>
              </a:rPr>
              <a:t>a conversation, a dialogue.</a:t>
            </a:r>
            <a:br>
              <a:rPr lang="en-US" b="1" dirty="0">
                <a:solidFill>
                  <a:schemeClr val="accent1"/>
                </a:solidFill>
              </a:rPr>
            </a:b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should come from genuine interest.  For instance, ask where the person is </a:t>
            </a:r>
            <a:r>
              <a:rPr lang="en-US" dirty="0"/>
              <a:t>from. </a:t>
            </a:r>
          </a:p>
          <a:p>
            <a:r>
              <a:rPr lang="en-US" dirty="0" smtClean="0"/>
              <a:t>Share the meaning of </a:t>
            </a:r>
            <a:r>
              <a:rPr lang="en-US" dirty="0"/>
              <a:t>your </a:t>
            </a:r>
            <a:r>
              <a:rPr lang="en-US" dirty="0" smtClean="0"/>
              <a:t>name. </a:t>
            </a:r>
            <a:endParaRPr lang="en-US" dirty="0"/>
          </a:p>
          <a:p>
            <a:r>
              <a:rPr lang="en-US" dirty="0" smtClean="0"/>
              <a:t>Tell an interesting story.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2524" y="2378240"/>
            <a:ext cx="2614706" cy="2614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288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Don’t get </a:t>
            </a:r>
            <a:r>
              <a:rPr lang="en-US" b="1" u="sng" dirty="0">
                <a:solidFill>
                  <a:schemeClr val="accent2">
                    <a:lumMod val="50000"/>
                  </a:schemeClr>
                </a:solidFill>
              </a:rPr>
              <a:t>STUCK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 on one topic.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701" y="1794076"/>
            <a:ext cx="5873005" cy="2093039"/>
          </a:xfrm>
        </p:spPr>
      </p:pic>
      <p:sp>
        <p:nvSpPr>
          <p:cNvPr id="5" name="Rectangle 4"/>
          <p:cNvSpPr/>
          <p:nvPr/>
        </p:nvSpPr>
        <p:spPr>
          <a:xfrm>
            <a:off x="2644815" y="4462041"/>
            <a:ext cx="764507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HAVE SEVERAL TOPICS IN MIND. </a:t>
            </a:r>
          </a:p>
          <a:p>
            <a:pPr algn="ctr"/>
            <a:r>
              <a:rPr lang="en-US" sz="2400" dirty="0"/>
              <a:t>Start with the weather, perhaps, move on to an article you read; get rapport going and if that fails…. </a:t>
            </a:r>
          </a:p>
        </p:txBody>
      </p:sp>
    </p:spTree>
    <p:extLst>
      <p:ext uri="{BB962C8B-B14F-4D97-AF65-F5344CB8AC3E}">
        <p14:creationId xmlns:p14="http://schemas.microsoft.com/office/powerpoint/2010/main" val="2278026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chemeClr val="accent2"/>
                </a:solidFill>
              </a:rPr>
              <a:t>STAND BY THE FOOD!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5009" y="1690688"/>
            <a:ext cx="4840941" cy="3883108"/>
          </a:xfrm>
        </p:spPr>
      </p:pic>
      <p:sp>
        <p:nvSpPr>
          <p:cNvPr id="5" name="Rectangle 4"/>
          <p:cNvSpPr/>
          <p:nvPr/>
        </p:nvSpPr>
        <p:spPr>
          <a:xfrm>
            <a:off x="2309149" y="6041509"/>
            <a:ext cx="877148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Taste the food.  Recommend it to people to open a conversation.</a:t>
            </a:r>
          </a:p>
        </p:txBody>
      </p:sp>
    </p:spTree>
    <p:extLst>
      <p:ext uri="{BB962C8B-B14F-4D97-AF65-F5344CB8AC3E}">
        <p14:creationId xmlns:p14="http://schemas.microsoft.com/office/powerpoint/2010/main" val="1868621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 b="1" dirty="0">
                <a:solidFill>
                  <a:schemeClr val="accent4">
                    <a:lumMod val="50000"/>
                  </a:schemeClr>
                </a:solidFill>
              </a:rPr>
              <a:t>USE YOUR EYES!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7065" y="1985815"/>
            <a:ext cx="6054165" cy="2067859"/>
          </a:xfrm>
        </p:spPr>
      </p:pic>
      <p:sp>
        <p:nvSpPr>
          <p:cNvPr id="5" name="Rectangle 4"/>
          <p:cNvSpPr/>
          <p:nvPr/>
        </p:nvSpPr>
        <p:spPr>
          <a:xfrm>
            <a:off x="1886672" y="4456254"/>
            <a:ext cx="931183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4">
                    <a:lumMod val="50000"/>
                  </a:schemeClr>
                </a:solidFill>
              </a:rPr>
              <a:t>Make eye contact. Look deeply, but briefly. Remember their eye color.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79871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>
                <a:solidFill>
                  <a:srgbClr val="FF0000"/>
                </a:solidFill>
              </a:rPr>
              <a:t>THINK P.R.O.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4000" b="1" dirty="0"/>
              <a:t>P</a:t>
            </a:r>
            <a:r>
              <a:rPr lang="en-US" b="1" dirty="0"/>
              <a:t>RIMACY</a:t>
            </a:r>
          </a:p>
          <a:p>
            <a:pPr marL="0" indent="0" algn="ctr">
              <a:buNone/>
            </a:pPr>
            <a:r>
              <a:rPr lang="en-US" sz="4000" b="1" dirty="0"/>
              <a:t>R</a:t>
            </a:r>
            <a:r>
              <a:rPr lang="en-US" b="1" dirty="0"/>
              <a:t>ECENCY</a:t>
            </a:r>
          </a:p>
          <a:p>
            <a:pPr marL="0" indent="0" algn="ctr">
              <a:buNone/>
            </a:pPr>
            <a:r>
              <a:rPr lang="en-US" sz="4000" b="1" dirty="0"/>
              <a:t>O</a:t>
            </a:r>
            <a:r>
              <a:rPr lang="en-US" b="1" dirty="0"/>
              <a:t>DDITY</a:t>
            </a:r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r>
              <a:rPr lang="en-US" b="1" dirty="0"/>
              <a:t>People will remember the first thing you said (Primacy).</a:t>
            </a:r>
          </a:p>
          <a:p>
            <a:pPr marL="0" indent="0" algn="ctr">
              <a:buNone/>
            </a:pPr>
            <a:r>
              <a:rPr lang="en-US" b="1" dirty="0"/>
              <a:t>They will remember the last thing you said (Recency).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FF0000"/>
                </a:solidFill>
              </a:rPr>
              <a:t>And, they will remember an odd thing you said (Oddity).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081" y="2044148"/>
            <a:ext cx="2923719" cy="1771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057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6000" b="1" dirty="0"/>
              <a:t>PARTICIPATE.</a:t>
            </a:r>
            <a:br>
              <a:rPr lang="en-US" sz="6000" b="1" dirty="0"/>
            </a:br>
            <a:r>
              <a:rPr lang="en-US" dirty="0"/>
              <a:t>It’s a </a:t>
            </a:r>
            <a:r>
              <a:rPr lang="en-US" b="1" dirty="0">
                <a:solidFill>
                  <a:srgbClr val="FF0000"/>
                </a:solidFill>
                <a:latin typeface="Algerian" panose="04020705040A02060702" pitchFamily="82" charset="0"/>
              </a:rPr>
              <a:t>DIALOGUE</a:t>
            </a:r>
            <a:r>
              <a:rPr lang="en-US" dirty="0"/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Nod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Smile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Laugh </a:t>
            </a:r>
            <a:endParaRPr lang="en-US" b="1" dirty="0" smtClean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rgbClr val="7030A0"/>
                </a:solidFill>
              </a:rPr>
              <a:t>Listen</a:t>
            </a:r>
            <a:endParaRPr lang="en-US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b="1" dirty="0"/>
              <a:t>Ask Questions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Re-state their points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Open your body language </a:t>
            </a:r>
          </a:p>
          <a:p>
            <a:pPr marL="0" indent="0">
              <a:buNone/>
            </a:pPr>
            <a:r>
              <a:rPr lang="en-US" b="1" dirty="0"/>
              <a:t>Mirror the audience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844" y="2510191"/>
            <a:ext cx="3478193" cy="2773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65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Do your homework!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Know the world of finance.</a:t>
            </a:r>
          </a:p>
          <a:p>
            <a:r>
              <a:rPr lang="en-US" dirty="0"/>
              <a:t>Take a position and defend it.</a:t>
            </a:r>
          </a:p>
          <a:p>
            <a:r>
              <a:rPr lang="en-US" dirty="0">
                <a:solidFill>
                  <a:srgbClr val="FF0000"/>
                </a:solidFill>
                <a:latin typeface="Algerian" panose="04020705040A02060702" pitchFamily="82" charset="0"/>
              </a:rPr>
              <a:t>Be passionate.</a:t>
            </a:r>
          </a:p>
          <a:p>
            <a:r>
              <a:rPr lang="en-US" dirty="0"/>
              <a:t>Stay on top of the news.</a:t>
            </a:r>
          </a:p>
          <a:p>
            <a:r>
              <a:rPr lang="en-US" dirty="0"/>
              <a:t>Never be boring.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1608" y="2245489"/>
            <a:ext cx="6066613" cy="4289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464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>
                <a:solidFill>
                  <a:srgbClr val="FF0000"/>
                </a:solidFill>
              </a:rPr>
              <a:t>Obey these “No No’s.”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58755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No religious talk</a:t>
            </a:r>
          </a:p>
          <a:p>
            <a:r>
              <a:rPr lang="en-US" dirty="0"/>
              <a:t>No politics</a:t>
            </a:r>
          </a:p>
          <a:p>
            <a:r>
              <a:rPr lang="en-US" dirty="0"/>
              <a:t>No cell phones</a:t>
            </a:r>
          </a:p>
          <a:p>
            <a:r>
              <a:rPr lang="en-US" dirty="0"/>
              <a:t>No touching</a:t>
            </a:r>
          </a:p>
          <a:p>
            <a:r>
              <a:rPr lang="en-US" dirty="0"/>
              <a:t>No talking with mouth full</a:t>
            </a:r>
          </a:p>
          <a:p>
            <a:r>
              <a:rPr lang="en-US" dirty="0"/>
              <a:t>No bad breath or body odor</a:t>
            </a:r>
          </a:p>
          <a:p>
            <a:r>
              <a:rPr lang="en-US" dirty="0"/>
              <a:t>No inappropriate jokes</a:t>
            </a:r>
          </a:p>
          <a:p>
            <a:r>
              <a:rPr lang="en-US" dirty="0"/>
              <a:t>No overdoing the alcohol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7158" y="3012030"/>
            <a:ext cx="4392707" cy="2923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426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1993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rgbClr val="7030A0"/>
                </a:solidFill>
              </a:rPr>
              <a:t>Be a HOST(ESS), </a:t>
            </a:r>
            <a:br>
              <a:rPr lang="en-US" sz="5400" b="1" dirty="0">
                <a:solidFill>
                  <a:srgbClr val="7030A0"/>
                </a:solidFill>
              </a:rPr>
            </a:br>
            <a:r>
              <a:rPr lang="en-US" sz="5400" b="1" dirty="0">
                <a:solidFill>
                  <a:srgbClr val="7030A0"/>
                </a:solidFill>
              </a:rPr>
              <a:t>NOT A GUEST.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Smile </a:t>
            </a:r>
          </a:p>
          <a:p>
            <a:pPr marL="0" indent="0">
              <a:buNone/>
            </a:pPr>
            <a:r>
              <a:rPr lang="en-US" sz="3600" dirty="0"/>
              <a:t>Greet people </a:t>
            </a:r>
          </a:p>
          <a:p>
            <a:pPr marL="0" indent="0">
              <a:buNone/>
            </a:pPr>
            <a:r>
              <a:rPr lang="en-US" sz="3600" dirty="0"/>
              <a:t>Help others </a:t>
            </a:r>
          </a:p>
          <a:p>
            <a:pPr marL="0" indent="0">
              <a:buNone/>
            </a:pPr>
            <a:r>
              <a:rPr lang="en-US" sz="3600" dirty="0"/>
              <a:t>Get drinks </a:t>
            </a:r>
          </a:p>
          <a:p>
            <a:pPr marL="0" indent="0">
              <a:buNone/>
            </a:pPr>
            <a:r>
              <a:rPr lang="en-US" sz="3600" dirty="0"/>
              <a:t>Listen</a:t>
            </a:r>
          </a:p>
          <a:p>
            <a:pPr marL="0" indent="0">
              <a:buNone/>
            </a:pPr>
            <a:r>
              <a:rPr lang="en-US" sz="3600" dirty="0"/>
              <a:t>Introduce people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6840" y="2122410"/>
            <a:ext cx="1798320" cy="3261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6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chemeClr val="accent1"/>
                </a:solidFill>
              </a:rPr>
              <a:t>Know When to Move On.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You may find yourself with someone who </a:t>
            </a:r>
            <a:r>
              <a:rPr lang="en-US" dirty="0" smtClean="0"/>
              <a:t>can’t help you further your  goal (expand your network).  </a:t>
            </a:r>
            <a:r>
              <a:rPr lang="en-US" dirty="0"/>
              <a:t>If so, excuse yourself. </a:t>
            </a:r>
          </a:p>
          <a:p>
            <a:pPr marL="0" indent="0" algn="ctr">
              <a:buNone/>
            </a:pPr>
            <a:r>
              <a:rPr lang="en-US" dirty="0"/>
              <a:t>Say you must: </a:t>
            </a:r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b="1" dirty="0">
                <a:solidFill>
                  <a:srgbClr val="7030A0"/>
                </a:solidFill>
              </a:rPr>
              <a:t>Feed the meter, powder your nose, get some food, or</a:t>
            </a:r>
          </a:p>
          <a:p>
            <a:pPr lvl="1"/>
            <a:r>
              <a:rPr lang="en-US" b="1" dirty="0">
                <a:solidFill>
                  <a:srgbClr val="7030A0"/>
                </a:solidFill>
              </a:rPr>
              <a:t>Answer the vibrating cell phone.</a:t>
            </a:r>
          </a:p>
          <a:p>
            <a:pPr lvl="1"/>
            <a:r>
              <a:rPr lang="en-US" b="1" dirty="0">
                <a:solidFill>
                  <a:srgbClr val="7030A0"/>
                </a:solidFill>
              </a:rPr>
              <a:t>Say you want to take less of the person’s time,</a:t>
            </a:r>
          </a:p>
          <a:p>
            <a:pPr lvl="1"/>
            <a:r>
              <a:rPr lang="en-US" b="1" dirty="0">
                <a:solidFill>
                  <a:srgbClr val="7030A0"/>
                </a:solidFill>
              </a:rPr>
              <a:t>Fade out; don’t latch on to someone; explore the room.</a:t>
            </a:r>
          </a:p>
          <a:p>
            <a:pPr lvl="1"/>
            <a:r>
              <a:rPr lang="en-US" b="1" dirty="0">
                <a:solidFill>
                  <a:srgbClr val="7030A0"/>
                </a:solidFill>
              </a:rPr>
              <a:t>Bring someone else in to “change the guard,” or</a:t>
            </a:r>
          </a:p>
          <a:p>
            <a:pPr lvl="1"/>
            <a:r>
              <a:rPr lang="en-US" b="1" dirty="0">
                <a:solidFill>
                  <a:srgbClr val="7030A0"/>
                </a:solidFill>
              </a:rPr>
              <a:t>Shake hands and break away.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5182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</a:t>
            </a:r>
            <a:r>
              <a:rPr lang="en-US" dirty="0">
                <a:solidFill>
                  <a:srgbClr val="FF0000"/>
                </a:solidFill>
              </a:rPr>
              <a:t>OWN </a:t>
            </a:r>
            <a:r>
              <a:rPr lang="en-US" dirty="0">
                <a:solidFill>
                  <a:srgbClr val="7030A0"/>
                </a:solidFill>
              </a:rPr>
              <a:t>the room</a:t>
            </a:r>
            <a:r>
              <a:rPr lang="en-US" dirty="0">
                <a:solidFill>
                  <a:srgbClr val="00B0F0"/>
                </a:solidFill>
              </a:rPr>
              <a:t>, YOU </a:t>
            </a:r>
            <a:r>
              <a:rPr lang="en-US" sz="4800" b="1" u="sng" dirty="0">
                <a:solidFill>
                  <a:srgbClr val="FF0000"/>
                </a:solidFill>
              </a:rPr>
              <a:t>MUST</a:t>
            </a:r>
            <a:r>
              <a:rPr lang="en-US" dirty="0"/>
              <a:t>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4031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030A0"/>
                </a:solidFill>
              </a:rPr>
              <a:t>Practice</a:t>
            </a:r>
          </a:p>
          <a:p>
            <a:pPr marL="0" indent="0" algn="ctr">
              <a:buNone/>
            </a:pPr>
            <a:r>
              <a:rPr lang="en-US" sz="3600" b="1" dirty="0">
                <a:solidFill>
                  <a:srgbClr val="92D050"/>
                </a:solidFill>
                <a:latin typeface="Algerian" panose="04020705040A02060702" pitchFamily="82" charset="0"/>
              </a:rPr>
              <a:t>Practice</a:t>
            </a:r>
          </a:p>
          <a:p>
            <a:pPr marL="0" indent="0" algn="ctr">
              <a:buNone/>
            </a:pPr>
            <a:r>
              <a:rPr lang="en-US" sz="3600" dirty="0">
                <a:solidFill>
                  <a:schemeClr val="accent1"/>
                </a:solidFill>
                <a:latin typeface="Bauhaus 93" panose="04030905020B02020C02" pitchFamily="82" charset="0"/>
              </a:rPr>
              <a:t>Practice</a:t>
            </a:r>
          </a:p>
          <a:p>
            <a:pPr marL="0" indent="0" algn="ctr">
              <a:buNone/>
            </a:pPr>
            <a:r>
              <a:rPr lang="en-US" sz="3600" b="1" dirty="0">
                <a:solidFill>
                  <a:srgbClr val="FF0000"/>
                </a:solidFill>
                <a:latin typeface="Bernard MT Condensed" panose="02050806060905020404" pitchFamily="18" charset="0"/>
              </a:rPr>
              <a:t>Practice</a:t>
            </a:r>
          </a:p>
          <a:p>
            <a:pPr marL="0" indent="0" algn="ctr">
              <a:buNone/>
            </a:pPr>
            <a:r>
              <a:rPr lang="en-US" sz="3600" b="1" dirty="0">
                <a:latin typeface="Broadway" panose="04040905080B02020502" pitchFamily="82" charset="0"/>
              </a:rPr>
              <a:t>Practice</a:t>
            </a:r>
          </a:p>
          <a:p>
            <a:pPr marL="0" indent="0" algn="ctr">
              <a:buNone/>
            </a:pPr>
            <a:r>
              <a:rPr lang="en-US" sz="3600" dirty="0">
                <a:solidFill>
                  <a:srgbClr val="0070C0"/>
                </a:solidFill>
                <a:latin typeface="Elephant" panose="02020904090505020303" pitchFamily="18" charset="0"/>
              </a:rPr>
              <a:t>Practice 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C00000"/>
                </a:solidFill>
                <a:latin typeface="Forte" panose="03060902040502070203" pitchFamily="66" charset="0"/>
              </a:rPr>
              <a:t>Practice </a:t>
            </a:r>
          </a:p>
          <a:p>
            <a:pPr marL="0" indent="0" algn="ctr">
              <a:buNone/>
            </a:pPr>
            <a:r>
              <a:rPr lang="en-US" sz="4000" dirty="0">
                <a:solidFill>
                  <a:srgbClr val="0070C0"/>
                </a:solidFill>
                <a:latin typeface="Elephant" panose="02020904090505020303" pitchFamily="18" charset="0"/>
              </a:rPr>
              <a:t>Practice</a:t>
            </a:r>
            <a:endParaRPr lang="en-US" sz="4000" b="1" dirty="0">
              <a:solidFill>
                <a:srgbClr val="C00000"/>
              </a:solidFill>
              <a:latin typeface="Forte" panose="030609020405020702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0827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857" y="1001047"/>
            <a:ext cx="8009457" cy="4866857"/>
          </a:xfrm>
        </p:spPr>
      </p:pic>
    </p:spTree>
    <p:extLst>
      <p:ext uri="{BB962C8B-B14F-4D97-AF65-F5344CB8AC3E}">
        <p14:creationId xmlns:p14="http://schemas.microsoft.com/office/powerpoint/2010/main" val="114014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46946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700" b="1" u="sng" dirty="0"/>
              <a:t>WE </a:t>
            </a:r>
            <a:r>
              <a:rPr lang="en-US" b="1" dirty="0"/>
              <a:t>are going to </a:t>
            </a:r>
            <a:br>
              <a:rPr lang="en-US" b="1" dirty="0"/>
            </a:br>
            <a:r>
              <a:rPr lang="en-US" b="1" dirty="0"/>
              <a:t>PRACTICE… </a:t>
            </a:r>
            <a:r>
              <a:rPr lang="en-US" b="1" dirty="0" smtClean="0"/>
              <a:t>NOW!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7450" y="2109798"/>
            <a:ext cx="3762375" cy="2590800"/>
          </a:xfrm>
        </p:spPr>
      </p:pic>
      <p:sp>
        <p:nvSpPr>
          <p:cNvPr id="5" name="Rectangle 4"/>
          <p:cNvSpPr/>
          <p:nvPr/>
        </p:nvSpPr>
        <p:spPr>
          <a:xfrm>
            <a:off x="1869311" y="5040775"/>
            <a:ext cx="870416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Grab a partner.</a:t>
            </a:r>
            <a:endParaRPr lang="en-US" sz="3600" b="1" dirty="0">
              <a:solidFill>
                <a:srgbClr val="FF0000"/>
              </a:solidFill>
            </a:endParaRPr>
          </a:p>
          <a:p>
            <a:pPr algn="ctr"/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4525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3500</TotalTime>
  <Words>799</Words>
  <Application>Microsoft Office PowerPoint</Application>
  <PresentationFormat>Widescreen</PresentationFormat>
  <Paragraphs>162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1" baseType="lpstr">
      <vt:lpstr>Algerian</vt:lpstr>
      <vt:lpstr>Arial</vt:lpstr>
      <vt:lpstr>Arial Black</vt:lpstr>
      <vt:lpstr>Bauhaus 93</vt:lpstr>
      <vt:lpstr>Bernard MT Condensed</vt:lpstr>
      <vt:lpstr>Broadway</vt:lpstr>
      <vt:lpstr>Calibri</vt:lpstr>
      <vt:lpstr>Calibri Light</vt:lpstr>
      <vt:lpstr>Elephant</vt:lpstr>
      <vt:lpstr>Forte</vt:lpstr>
      <vt:lpstr>Office Theme</vt:lpstr>
      <vt:lpstr>NETWORK! Because, sometimes it’s not  what you know, it’s </vt:lpstr>
      <vt:lpstr> When you network well:  </vt:lpstr>
      <vt:lpstr>You will network with…</vt:lpstr>
      <vt:lpstr>It’s all Social</vt:lpstr>
      <vt:lpstr>WHY do you hesitate to network? </vt:lpstr>
      <vt:lpstr> According to the NY Times,  “The #1 SOCIAL FEAR is going to…  </vt:lpstr>
      <vt:lpstr>It’s NATURAL to feel alone, because we spend so much time alone.</vt:lpstr>
      <vt:lpstr>Are you an  INTROVERT? </vt:lpstr>
      <vt:lpstr>MINGLING IS  a MIND GAME.</vt:lpstr>
      <vt:lpstr> In a non-conscious process,  the brain responds in the following ways: </vt:lpstr>
      <vt:lpstr>YOU CAN MASTER</vt:lpstr>
      <vt:lpstr>First,  ELIMINATE NEGATIVE SELF-TALK.</vt:lpstr>
      <vt:lpstr>Next, have</vt:lpstr>
      <vt:lpstr>Think about your IMAGE:</vt:lpstr>
      <vt:lpstr>Adopt a  POSITIVE ATTITUDE. </vt:lpstr>
      <vt:lpstr>Know your body language!</vt:lpstr>
      <vt:lpstr>Take a POWER STANCE.</vt:lpstr>
      <vt:lpstr>Do Power Poses work?</vt:lpstr>
      <vt:lpstr>WATCH THIS TEDTalk!</vt:lpstr>
      <vt:lpstr>Channel a professional! </vt:lpstr>
      <vt:lpstr>DRESS FOR THE OCCASION.</vt:lpstr>
      <vt:lpstr>SMILE!</vt:lpstr>
      <vt:lpstr>Give a firm handshake.</vt:lpstr>
      <vt:lpstr>MirrorrorriM  your audience.</vt:lpstr>
      <vt:lpstr>HAVE A SELF INTRODUCTION READY.</vt:lpstr>
      <vt:lpstr>Set the stage  and find some things in common. </vt:lpstr>
      <vt:lpstr>Use these techniques:</vt:lpstr>
      <vt:lpstr> Create a conversation, a dialogue. </vt:lpstr>
      <vt:lpstr>Don’t get STUCK on one topic. </vt:lpstr>
      <vt:lpstr>STAND BY THE FOOD! </vt:lpstr>
      <vt:lpstr>USE YOUR EYES! </vt:lpstr>
      <vt:lpstr>THINK P.R.O.</vt:lpstr>
      <vt:lpstr>PARTICIPATE. It’s a DIALOGUE.</vt:lpstr>
      <vt:lpstr>Do your homework!</vt:lpstr>
      <vt:lpstr>Obey these “No No’s.”</vt:lpstr>
      <vt:lpstr>Be a HOST(ESS),  NOT A GUEST.</vt:lpstr>
      <vt:lpstr>Know When to Move On.</vt:lpstr>
      <vt:lpstr>To OWN the room, YOU MUST:</vt:lpstr>
      <vt:lpstr>PowerPoint Presentation</vt:lpstr>
      <vt:lpstr>WE are going to  PRACTICE… NOW!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 How to  Work the Room!</dc:title>
  <dc:creator>Ed Barr</dc:creator>
  <cp:lastModifiedBy>edbarr</cp:lastModifiedBy>
  <cp:revision>111</cp:revision>
  <dcterms:created xsi:type="dcterms:W3CDTF">2017-02-28T14:03:37Z</dcterms:created>
  <dcterms:modified xsi:type="dcterms:W3CDTF">2018-08-14T14:26:29Z</dcterms:modified>
</cp:coreProperties>
</file>